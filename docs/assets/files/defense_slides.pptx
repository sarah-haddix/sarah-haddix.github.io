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1" r:id="rId1"/>
  </p:sldMasterIdLst>
  <p:notesMasterIdLst>
    <p:notesMasterId r:id="rId21"/>
  </p:notesMasterIdLst>
  <p:sldIdLst>
    <p:sldId id="258" r:id="rId2"/>
    <p:sldId id="265" r:id="rId3"/>
    <p:sldId id="266" r:id="rId4"/>
    <p:sldId id="268" r:id="rId5"/>
    <p:sldId id="277" r:id="rId6"/>
    <p:sldId id="259" r:id="rId7"/>
    <p:sldId id="278" r:id="rId8"/>
    <p:sldId id="260" r:id="rId9"/>
    <p:sldId id="261" r:id="rId10"/>
    <p:sldId id="272" r:id="rId11"/>
    <p:sldId id="273" r:id="rId12"/>
    <p:sldId id="274" r:id="rId13"/>
    <p:sldId id="271" r:id="rId14"/>
    <p:sldId id="275" r:id="rId15"/>
    <p:sldId id="262" r:id="rId16"/>
    <p:sldId id="276" r:id="rId17"/>
    <p:sldId id="263" r:id="rId18"/>
    <p:sldId id="264" r:id="rId19"/>
    <p:sldId id="27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29"/>
    <p:restoredTop sz="83862"/>
  </p:normalViewPr>
  <p:slideViewPr>
    <p:cSldViewPr snapToGrid="0">
      <p:cViewPr>
        <p:scale>
          <a:sx n="107" d="100"/>
          <a:sy n="107" d="100"/>
        </p:scale>
        <p:origin x="92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9C7785-A1C9-4D8D-8EC0-C77326E67FAF}"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3B71A75D-1E8B-437A-BC85-346B9A600D55}">
      <dgm:prSet/>
      <dgm:spPr/>
      <dgm:t>
        <a:bodyPr/>
        <a:lstStyle/>
        <a:p>
          <a:r>
            <a:rPr lang="en-US"/>
            <a:t>EEVDF</a:t>
          </a:r>
        </a:p>
      </dgm:t>
    </dgm:pt>
    <dgm:pt modelId="{B93CFAA6-6D20-4045-A873-D8C22F42F863}" type="parTrans" cxnId="{D40B0E6B-93E0-4EF5-B6CD-4446FF4201F3}">
      <dgm:prSet/>
      <dgm:spPr/>
      <dgm:t>
        <a:bodyPr/>
        <a:lstStyle/>
        <a:p>
          <a:endParaRPr lang="en-US"/>
        </a:p>
      </dgm:t>
    </dgm:pt>
    <dgm:pt modelId="{43572E3A-5536-4787-84C5-5AAD055FC597}" type="sibTrans" cxnId="{D40B0E6B-93E0-4EF5-B6CD-4446FF4201F3}">
      <dgm:prSet/>
      <dgm:spPr/>
      <dgm:t>
        <a:bodyPr/>
        <a:lstStyle/>
        <a:p>
          <a:endParaRPr lang="en-US"/>
        </a:p>
      </dgm:t>
    </dgm:pt>
    <dgm:pt modelId="{7922E9AA-9E15-4290-999E-B93CFE9E2DE6}">
      <dgm:prSet/>
      <dgm:spPr/>
      <dgm:t>
        <a:bodyPr/>
        <a:lstStyle/>
        <a:p>
          <a:r>
            <a:rPr lang="en-US"/>
            <a:t>Dynamic Systems</a:t>
          </a:r>
        </a:p>
      </dgm:t>
    </dgm:pt>
    <dgm:pt modelId="{3BD4FD77-A109-479B-9489-792BCE025403}" type="parTrans" cxnId="{87D74672-E788-4F56-8669-F9A527CA7051}">
      <dgm:prSet/>
      <dgm:spPr/>
      <dgm:t>
        <a:bodyPr/>
        <a:lstStyle/>
        <a:p>
          <a:endParaRPr lang="en-US"/>
        </a:p>
      </dgm:t>
    </dgm:pt>
    <dgm:pt modelId="{FEF8A34E-DF11-4B35-9915-11917F6646E8}" type="sibTrans" cxnId="{87D74672-E788-4F56-8669-F9A527CA7051}">
      <dgm:prSet/>
      <dgm:spPr/>
      <dgm:t>
        <a:bodyPr/>
        <a:lstStyle/>
        <a:p>
          <a:endParaRPr lang="en-US"/>
        </a:p>
      </dgm:t>
    </dgm:pt>
    <dgm:pt modelId="{40068607-3A1B-4C6D-A9F2-E0C7F83B8AF6}">
      <dgm:prSet/>
      <dgm:spPr/>
      <dgm:t>
        <a:bodyPr/>
        <a:lstStyle/>
        <a:p>
          <a:r>
            <a:rPr lang="en-US"/>
            <a:t>Linux</a:t>
          </a:r>
        </a:p>
      </dgm:t>
    </dgm:pt>
    <dgm:pt modelId="{516ECFF1-B18F-47D2-972E-FDD009650A09}" type="parTrans" cxnId="{5EEA53F0-85C7-4628-B71F-CD5E9CCDD518}">
      <dgm:prSet/>
      <dgm:spPr/>
      <dgm:t>
        <a:bodyPr/>
        <a:lstStyle/>
        <a:p>
          <a:endParaRPr lang="en-US"/>
        </a:p>
      </dgm:t>
    </dgm:pt>
    <dgm:pt modelId="{BB156E96-D280-47D1-9416-A2D0375BEFA5}" type="sibTrans" cxnId="{5EEA53F0-85C7-4628-B71F-CD5E9CCDD518}">
      <dgm:prSet/>
      <dgm:spPr/>
      <dgm:t>
        <a:bodyPr/>
        <a:lstStyle/>
        <a:p>
          <a:endParaRPr lang="en-US"/>
        </a:p>
      </dgm:t>
    </dgm:pt>
    <dgm:pt modelId="{50F640F5-95A4-40A6-BEA3-5035CC35A7DF}">
      <dgm:prSet/>
      <dgm:spPr/>
      <dgm:t>
        <a:bodyPr/>
        <a:lstStyle/>
        <a:p>
          <a:r>
            <a:rPr lang="en-US"/>
            <a:t>Discussion of Mathematical Results</a:t>
          </a:r>
        </a:p>
      </dgm:t>
    </dgm:pt>
    <dgm:pt modelId="{717125A5-CC23-4E03-AA9B-0E4FA2D839CF}" type="parTrans" cxnId="{F8E8E5CF-8F5C-4C69-838A-A0C5ED5C653B}">
      <dgm:prSet/>
      <dgm:spPr/>
      <dgm:t>
        <a:bodyPr/>
        <a:lstStyle/>
        <a:p>
          <a:endParaRPr lang="en-US"/>
        </a:p>
      </dgm:t>
    </dgm:pt>
    <dgm:pt modelId="{5E474CDF-C15A-482A-BB8F-D9D17F36A0EE}" type="sibTrans" cxnId="{F8E8E5CF-8F5C-4C69-838A-A0C5ED5C653B}">
      <dgm:prSet/>
      <dgm:spPr/>
      <dgm:t>
        <a:bodyPr/>
        <a:lstStyle/>
        <a:p>
          <a:endParaRPr lang="en-US"/>
        </a:p>
      </dgm:t>
    </dgm:pt>
    <dgm:pt modelId="{CBCCD1CB-76AE-0341-ADB3-405675D22086}" type="pres">
      <dgm:prSet presAssocID="{969C7785-A1C9-4D8D-8EC0-C77326E67FAF}" presName="vert0" presStyleCnt="0">
        <dgm:presLayoutVars>
          <dgm:dir/>
          <dgm:animOne val="branch"/>
          <dgm:animLvl val="lvl"/>
        </dgm:presLayoutVars>
      </dgm:prSet>
      <dgm:spPr/>
    </dgm:pt>
    <dgm:pt modelId="{5E01B673-AE3A-DE46-BFD1-76A903CC1167}" type="pres">
      <dgm:prSet presAssocID="{3B71A75D-1E8B-437A-BC85-346B9A600D55}" presName="thickLine" presStyleLbl="alignNode1" presStyleIdx="0" presStyleCnt="4"/>
      <dgm:spPr/>
    </dgm:pt>
    <dgm:pt modelId="{EE7C7313-583F-BD4C-BA09-7258ED16FF7E}" type="pres">
      <dgm:prSet presAssocID="{3B71A75D-1E8B-437A-BC85-346B9A600D55}" presName="horz1" presStyleCnt="0"/>
      <dgm:spPr/>
    </dgm:pt>
    <dgm:pt modelId="{B9CC6A66-ED8A-EB4F-BF87-AB0E06C5A4BF}" type="pres">
      <dgm:prSet presAssocID="{3B71A75D-1E8B-437A-BC85-346B9A600D55}" presName="tx1" presStyleLbl="revTx" presStyleIdx="0" presStyleCnt="4"/>
      <dgm:spPr/>
    </dgm:pt>
    <dgm:pt modelId="{0CE2F7AE-AFF0-154A-A588-3402E28F74EE}" type="pres">
      <dgm:prSet presAssocID="{3B71A75D-1E8B-437A-BC85-346B9A600D55}" presName="vert1" presStyleCnt="0"/>
      <dgm:spPr/>
    </dgm:pt>
    <dgm:pt modelId="{A2B1B434-0747-AB4C-A275-9CA80DB91407}" type="pres">
      <dgm:prSet presAssocID="{7922E9AA-9E15-4290-999E-B93CFE9E2DE6}" presName="thickLine" presStyleLbl="alignNode1" presStyleIdx="1" presStyleCnt="4"/>
      <dgm:spPr/>
    </dgm:pt>
    <dgm:pt modelId="{4AB9B84E-BC5E-C94B-8B8E-57CF0F645C88}" type="pres">
      <dgm:prSet presAssocID="{7922E9AA-9E15-4290-999E-B93CFE9E2DE6}" presName="horz1" presStyleCnt="0"/>
      <dgm:spPr/>
    </dgm:pt>
    <dgm:pt modelId="{FD25E1D0-8E5B-E243-9E85-784FAFF75883}" type="pres">
      <dgm:prSet presAssocID="{7922E9AA-9E15-4290-999E-B93CFE9E2DE6}" presName="tx1" presStyleLbl="revTx" presStyleIdx="1" presStyleCnt="4"/>
      <dgm:spPr/>
    </dgm:pt>
    <dgm:pt modelId="{380B71D9-F8FD-F94D-BD50-90117A03914C}" type="pres">
      <dgm:prSet presAssocID="{7922E9AA-9E15-4290-999E-B93CFE9E2DE6}" presName="vert1" presStyleCnt="0"/>
      <dgm:spPr/>
    </dgm:pt>
    <dgm:pt modelId="{8E036750-39A8-5449-B8A5-59491E1111B1}" type="pres">
      <dgm:prSet presAssocID="{40068607-3A1B-4C6D-A9F2-E0C7F83B8AF6}" presName="thickLine" presStyleLbl="alignNode1" presStyleIdx="2" presStyleCnt="4"/>
      <dgm:spPr/>
    </dgm:pt>
    <dgm:pt modelId="{C29DCE11-A550-F342-BBE3-54601CC04F9E}" type="pres">
      <dgm:prSet presAssocID="{40068607-3A1B-4C6D-A9F2-E0C7F83B8AF6}" presName="horz1" presStyleCnt="0"/>
      <dgm:spPr/>
    </dgm:pt>
    <dgm:pt modelId="{E98F076B-9CC1-8D4C-B22C-F95CCDF60160}" type="pres">
      <dgm:prSet presAssocID="{40068607-3A1B-4C6D-A9F2-E0C7F83B8AF6}" presName="tx1" presStyleLbl="revTx" presStyleIdx="2" presStyleCnt="4"/>
      <dgm:spPr/>
    </dgm:pt>
    <dgm:pt modelId="{8D42C908-CBBF-F34D-AD69-76C5A9188FE1}" type="pres">
      <dgm:prSet presAssocID="{40068607-3A1B-4C6D-A9F2-E0C7F83B8AF6}" presName="vert1" presStyleCnt="0"/>
      <dgm:spPr/>
    </dgm:pt>
    <dgm:pt modelId="{E96FF477-C996-B643-83F9-040C6DB87B32}" type="pres">
      <dgm:prSet presAssocID="{50F640F5-95A4-40A6-BEA3-5035CC35A7DF}" presName="thickLine" presStyleLbl="alignNode1" presStyleIdx="3" presStyleCnt="4"/>
      <dgm:spPr/>
    </dgm:pt>
    <dgm:pt modelId="{333282D3-9BD3-B44D-93D7-E6E069F758F5}" type="pres">
      <dgm:prSet presAssocID="{50F640F5-95A4-40A6-BEA3-5035CC35A7DF}" presName="horz1" presStyleCnt="0"/>
      <dgm:spPr/>
    </dgm:pt>
    <dgm:pt modelId="{D52A6190-B893-5345-83F3-793833279B46}" type="pres">
      <dgm:prSet presAssocID="{50F640F5-95A4-40A6-BEA3-5035CC35A7DF}" presName="tx1" presStyleLbl="revTx" presStyleIdx="3" presStyleCnt="4"/>
      <dgm:spPr/>
    </dgm:pt>
    <dgm:pt modelId="{167BD8C0-BF21-9C4B-925F-C86792DB6344}" type="pres">
      <dgm:prSet presAssocID="{50F640F5-95A4-40A6-BEA3-5035CC35A7DF}" presName="vert1" presStyleCnt="0"/>
      <dgm:spPr/>
    </dgm:pt>
  </dgm:ptLst>
  <dgm:cxnLst>
    <dgm:cxn modelId="{D8906F0C-7E07-624C-BA7F-4EA0B76A366D}" type="presOf" srcId="{3B71A75D-1E8B-437A-BC85-346B9A600D55}" destId="{B9CC6A66-ED8A-EB4F-BF87-AB0E06C5A4BF}" srcOrd="0" destOrd="0" presId="urn:microsoft.com/office/officeart/2008/layout/LinedList"/>
    <dgm:cxn modelId="{066ECC6A-0642-5C42-B965-ACC4636FDE64}" type="presOf" srcId="{7922E9AA-9E15-4290-999E-B93CFE9E2DE6}" destId="{FD25E1D0-8E5B-E243-9E85-784FAFF75883}" srcOrd="0" destOrd="0" presId="urn:microsoft.com/office/officeart/2008/layout/LinedList"/>
    <dgm:cxn modelId="{D40B0E6B-93E0-4EF5-B6CD-4446FF4201F3}" srcId="{969C7785-A1C9-4D8D-8EC0-C77326E67FAF}" destId="{3B71A75D-1E8B-437A-BC85-346B9A600D55}" srcOrd="0" destOrd="0" parTransId="{B93CFAA6-6D20-4045-A873-D8C22F42F863}" sibTransId="{43572E3A-5536-4787-84C5-5AAD055FC597}"/>
    <dgm:cxn modelId="{62D4696B-BD87-FF4A-A3AD-B70D1B03F95E}" type="presOf" srcId="{50F640F5-95A4-40A6-BEA3-5035CC35A7DF}" destId="{D52A6190-B893-5345-83F3-793833279B46}" srcOrd="0" destOrd="0" presId="urn:microsoft.com/office/officeart/2008/layout/LinedList"/>
    <dgm:cxn modelId="{87D74672-E788-4F56-8669-F9A527CA7051}" srcId="{969C7785-A1C9-4D8D-8EC0-C77326E67FAF}" destId="{7922E9AA-9E15-4290-999E-B93CFE9E2DE6}" srcOrd="1" destOrd="0" parTransId="{3BD4FD77-A109-479B-9489-792BCE025403}" sibTransId="{FEF8A34E-DF11-4B35-9915-11917F6646E8}"/>
    <dgm:cxn modelId="{BB537D84-DF4E-1240-91B3-B641AFC53579}" type="presOf" srcId="{40068607-3A1B-4C6D-A9F2-E0C7F83B8AF6}" destId="{E98F076B-9CC1-8D4C-B22C-F95CCDF60160}" srcOrd="0" destOrd="0" presId="urn:microsoft.com/office/officeart/2008/layout/LinedList"/>
    <dgm:cxn modelId="{5B74D197-3793-EA46-9008-93591D56FEFA}" type="presOf" srcId="{969C7785-A1C9-4D8D-8EC0-C77326E67FAF}" destId="{CBCCD1CB-76AE-0341-ADB3-405675D22086}" srcOrd="0" destOrd="0" presId="urn:microsoft.com/office/officeart/2008/layout/LinedList"/>
    <dgm:cxn modelId="{F8E8E5CF-8F5C-4C69-838A-A0C5ED5C653B}" srcId="{969C7785-A1C9-4D8D-8EC0-C77326E67FAF}" destId="{50F640F5-95A4-40A6-BEA3-5035CC35A7DF}" srcOrd="3" destOrd="0" parTransId="{717125A5-CC23-4E03-AA9B-0E4FA2D839CF}" sibTransId="{5E474CDF-C15A-482A-BB8F-D9D17F36A0EE}"/>
    <dgm:cxn modelId="{5EEA53F0-85C7-4628-B71F-CD5E9CCDD518}" srcId="{969C7785-A1C9-4D8D-8EC0-C77326E67FAF}" destId="{40068607-3A1B-4C6D-A9F2-E0C7F83B8AF6}" srcOrd="2" destOrd="0" parTransId="{516ECFF1-B18F-47D2-972E-FDD009650A09}" sibTransId="{BB156E96-D280-47D1-9416-A2D0375BEFA5}"/>
    <dgm:cxn modelId="{377A135F-A7A5-B040-BFF8-A2170B97BA02}" type="presParOf" srcId="{CBCCD1CB-76AE-0341-ADB3-405675D22086}" destId="{5E01B673-AE3A-DE46-BFD1-76A903CC1167}" srcOrd="0" destOrd="0" presId="urn:microsoft.com/office/officeart/2008/layout/LinedList"/>
    <dgm:cxn modelId="{B07A4B81-6E0E-1B46-B048-0D4BD8C0343C}" type="presParOf" srcId="{CBCCD1CB-76AE-0341-ADB3-405675D22086}" destId="{EE7C7313-583F-BD4C-BA09-7258ED16FF7E}" srcOrd="1" destOrd="0" presId="urn:microsoft.com/office/officeart/2008/layout/LinedList"/>
    <dgm:cxn modelId="{0E0F3FB3-0AB1-3840-BEAF-B04761C57981}" type="presParOf" srcId="{EE7C7313-583F-BD4C-BA09-7258ED16FF7E}" destId="{B9CC6A66-ED8A-EB4F-BF87-AB0E06C5A4BF}" srcOrd="0" destOrd="0" presId="urn:microsoft.com/office/officeart/2008/layout/LinedList"/>
    <dgm:cxn modelId="{7EF9BCB6-1394-9241-9D20-A57342B751F7}" type="presParOf" srcId="{EE7C7313-583F-BD4C-BA09-7258ED16FF7E}" destId="{0CE2F7AE-AFF0-154A-A588-3402E28F74EE}" srcOrd="1" destOrd="0" presId="urn:microsoft.com/office/officeart/2008/layout/LinedList"/>
    <dgm:cxn modelId="{FA749664-742C-3A43-A584-5D490A5160D7}" type="presParOf" srcId="{CBCCD1CB-76AE-0341-ADB3-405675D22086}" destId="{A2B1B434-0747-AB4C-A275-9CA80DB91407}" srcOrd="2" destOrd="0" presId="urn:microsoft.com/office/officeart/2008/layout/LinedList"/>
    <dgm:cxn modelId="{AA3ECC23-B015-3F48-9276-8C17890BAEE1}" type="presParOf" srcId="{CBCCD1CB-76AE-0341-ADB3-405675D22086}" destId="{4AB9B84E-BC5E-C94B-8B8E-57CF0F645C88}" srcOrd="3" destOrd="0" presId="urn:microsoft.com/office/officeart/2008/layout/LinedList"/>
    <dgm:cxn modelId="{12CD647B-07B9-6342-A57C-A34BC3A65E8E}" type="presParOf" srcId="{4AB9B84E-BC5E-C94B-8B8E-57CF0F645C88}" destId="{FD25E1D0-8E5B-E243-9E85-784FAFF75883}" srcOrd="0" destOrd="0" presId="urn:microsoft.com/office/officeart/2008/layout/LinedList"/>
    <dgm:cxn modelId="{3840A731-0310-604C-ABBB-59A19B2147F7}" type="presParOf" srcId="{4AB9B84E-BC5E-C94B-8B8E-57CF0F645C88}" destId="{380B71D9-F8FD-F94D-BD50-90117A03914C}" srcOrd="1" destOrd="0" presId="urn:microsoft.com/office/officeart/2008/layout/LinedList"/>
    <dgm:cxn modelId="{9D662AFC-CE23-2849-B0BC-855269AEAAFD}" type="presParOf" srcId="{CBCCD1CB-76AE-0341-ADB3-405675D22086}" destId="{8E036750-39A8-5449-B8A5-59491E1111B1}" srcOrd="4" destOrd="0" presId="urn:microsoft.com/office/officeart/2008/layout/LinedList"/>
    <dgm:cxn modelId="{24A98021-B5CB-5D46-8630-F0ED4A1CB4D1}" type="presParOf" srcId="{CBCCD1CB-76AE-0341-ADB3-405675D22086}" destId="{C29DCE11-A550-F342-BBE3-54601CC04F9E}" srcOrd="5" destOrd="0" presId="urn:microsoft.com/office/officeart/2008/layout/LinedList"/>
    <dgm:cxn modelId="{094D632D-A153-0D4C-A804-5F627FFF0401}" type="presParOf" srcId="{C29DCE11-A550-F342-BBE3-54601CC04F9E}" destId="{E98F076B-9CC1-8D4C-B22C-F95CCDF60160}" srcOrd="0" destOrd="0" presId="urn:microsoft.com/office/officeart/2008/layout/LinedList"/>
    <dgm:cxn modelId="{9C73F24E-7CD5-4546-A5B9-65D7D64C8003}" type="presParOf" srcId="{C29DCE11-A550-F342-BBE3-54601CC04F9E}" destId="{8D42C908-CBBF-F34D-AD69-76C5A9188FE1}" srcOrd="1" destOrd="0" presId="urn:microsoft.com/office/officeart/2008/layout/LinedList"/>
    <dgm:cxn modelId="{EF8C85EB-24BA-BA46-B126-BD955A1BD384}" type="presParOf" srcId="{CBCCD1CB-76AE-0341-ADB3-405675D22086}" destId="{E96FF477-C996-B643-83F9-040C6DB87B32}" srcOrd="6" destOrd="0" presId="urn:microsoft.com/office/officeart/2008/layout/LinedList"/>
    <dgm:cxn modelId="{6B192E0D-8671-4F45-A5B0-5D5AFBC59917}" type="presParOf" srcId="{CBCCD1CB-76AE-0341-ADB3-405675D22086}" destId="{333282D3-9BD3-B44D-93D7-E6E069F758F5}" srcOrd="7" destOrd="0" presId="urn:microsoft.com/office/officeart/2008/layout/LinedList"/>
    <dgm:cxn modelId="{1436240D-D3A3-1648-A8A0-4796585D5236}" type="presParOf" srcId="{333282D3-9BD3-B44D-93D7-E6E069F758F5}" destId="{D52A6190-B893-5345-83F3-793833279B46}" srcOrd="0" destOrd="0" presId="urn:microsoft.com/office/officeart/2008/layout/LinedList"/>
    <dgm:cxn modelId="{BF2BD199-14F1-F94B-8BF3-4ECB23E96FFC}" type="presParOf" srcId="{333282D3-9BD3-B44D-93D7-E6E069F758F5}" destId="{167BD8C0-BF21-9C4B-925F-C86792DB634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01B673-AE3A-DE46-BFD1-76A903CC1167}">
      <dsp:nvSpPr>
        <dsp:cNvPr id="0" name=""/>
        <dsp:cNvSpPr/>
      </dsp:nvSpPr>
      <dsp:spPr>
        <a:xfrm>
          <a:off x="0" y="0"/>
          <a:ext cx="481584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CC6A66-ED8A-EB4F-BF87-AB0E06C5A4BF}">
      <dsp:nvSpPr>
        <dsp:cNvPr id="0" name=""/>
        <dsp:cNvSpPr/>
      </dsp:nvSpPr>
      <dsp:spPr>
        <a:xfrm>
          <a:off x="0" y="0"/>
          <a:ext cx="4815840" cy="1312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EEVDF</a:t>
          </a:r>
        </a:p>
      </dsp:txBody>
      <dsp:txXfrm>
        <a:off x="0" y="0"/>
        <a:ext cx="4815840" cy="1312164"/>
      </dsp:txXfrm>
    </dsp:sp>
    <dsp:sp modelId="{A2B1B434-0747-AB4C-A275-9CA80DB91407}">
      <dsp:nvSpPr>
        <dsp:cNvPr id="0" name=""/>
        <dsp:cNvSpPr/>
      </dsp:nvSpPr>
      <dsp:spPr>
        <a:xfrm>
          <a:off x="0" y="1312164"/>
          <a:ext cx="481584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25E1D0-8E5B-E243-9E85-784FAFF75883}">
      <dsp:nvSpPr>
        <dsp:cNvPr id="0" name=""/>
        <dsp:cNvSpPr/>
      </dsp:nvSpPr>
      <dsp:spPr>
        <a:xfrm>
          <a:off x="0" y="1312164"/>
          <a:ext cx="4815840" cy="1312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Dynamic Systems</a:t>
          </a:r>
        </a:p>
      </dsp:txBody>
      <dsp:txXfrm>
        <a:off x="0" y="1312164"/>
        <a:ext cx="4815840" cy="1312164"/>
      </dsp:txXfrm>
    </dsp:sp>
    <dsp:sp modelId="{8E036750-39A8-5449-B8A5-59491E1111B1}">
      <dsp:nvSpPr>
        <dsp:cNvPr id="0" name=""/>
        <dsp:cNvSpPr/>
      </dsp:nvSpPr>
      <dsp:spPr>
        <a:xfrm>
          <a:off x="0" y="2624328"/>
          <a:ext cx="481584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8F076B-9CC1-8D4C-B22C-F95CCDF60160}">
      <dsp:nvSpPr>
        <dsp:cNvPr id="0" name=""/>
        <dsp:cNvSpPr/>
      </dsp:nvSpPr>
      <dsp:spPr>
        <a:xfrm>
          <a:off x="0" y="2624328"/>
          <a:ext cx="4815840" cy="1312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Linux</a:t>
          </a:r>
        </a:p>
      </dsp:txBody>
      <dsp:txXfrm>
        <a:off x="0" y="2624328"/>
        <a:ext cx="4815840" cy="1312164"/>
      </dsp:txXfrm>
    </dsp:sp>
    <dsp:sp modelId="{E96FF477-C996-B643-83F9-040C6DB87B32}">
      <dsp:nvSpPr>
        <dsp:cNvPr id="0" name=""/>
        <dsp:cNvSpPr/>
      </dsp:nvSpPr>
      <dsp:spPr>
        <a:xfrm>
          <a:off x="0" y="3936492"/>
          <a:ext cx="481584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2A6190-B893-5345-83F3-793833279B46}">
      <dsp:nvSpPr>
        <dsp:cNvPr id="0" name=""/>
        <dsp:cNvSpPr/>
      </dsp:nvSpPr>
      <dsp:spPr>
        <a:xfrm>
          <a:off x="0" y="3936492"/>
          <a:ext cx="4815840" cy="1312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Discussion of Mathematical Results</a:t>
          </a:r>
        </a:p>
      </dsp:txBody>
      <dsp:txXfrm>
        <a:off x="0" y="3936492"/>
        <a:ext cx="4815840" cy="131216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81BD11-DB04-9E44-A5B9-B2D36A9FD605}" type="datetimeFigureOut">
              <a:rPr lang="en-US" smtClean="0"/>
              <a:t>4/5/26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DEDAFB-2BDB-624B-9CA2-713EB7A1676D}" type="slidenum">
              <a:rPr lang="en-US" smtClean="0"/>
              <a:t>‹#›</a:t>
            </a:fld>
            <a:endParaRPr lang="en-US"/>
          </a:p>
        </p:txBody>
      </p:sp>
    </p:spTree>
    <p:extLst>
      <p:ext uri="{BB962C8B-B14F-4D97-AF65-F5344CB8AC3E}">
        <p14:creationId xmlns:p14="http://schemas.microsoft.com/office/powerpoint/2010/main" val="1524388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85631-FE6E-F39F-46DF-14BC59A2A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3BBE3-65D5-F75A-FC39-2ECAEE10FA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52CFD1-B627-87C9-E642-EAFADED002E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Ian Stoica, </a:t>
            </a:r>
            <a:r>
              <a:rPr lang="en-US" b="1" dirty="0"/>
              <a:t>Hussein Abdel-Wahab paper in 1995, Ian Stoica, Hussain Abdel-Wahab et. Al in an RTSS paper in 1996 (doesn’t include all the proofs from the version that Jim gave me)</a:t>
            </a:r>
          </a:p>
          <a:p>
            <a:endParaRPr lang="en-US" dirty="0"/>
          </a:p>
        </p:txBody>
      </p:sp>
      <p:sp>
        <p:nvSpPr>
          <p:cNvPr id="4" name="Slide Number Placeholder 3">
            <a:extLst>
              <a:ext uri="{FF2B5EF4-FFF2-40B4-BE49-F238E27FC236}">
                <a16:creationId xmlns:a16="http://schemas.microsoft.com/office/drawing/2014/main" id="{E8A15B16-6ACF-AB05-AD54-1DDDD43C992C}"/>
              </a:ext>
            </a:extLst>
          </p:cNvPr>
          <p:cNvSpPr>
            <a:spLocks noGrp="1"/>
          </p:cNvSpPr>
          <p:nvPr>
            <p:ph type="sldNum" sz="quarter" idx="5"/>
          </p:nvPr>
        </p:nvSpPr>
        <p:spPr/>
        <p:txBody>
          <a:bodyPr/>
          <a:lstStyle/>
          <a:p>
            <a:fld id="{F6DEDAFB-2BDB-624B-9CA2-713EB7A1676D}" type="slidenum">
              <a:rPr lang="en-US" smtClean="0"/>
              <a:t>3</a:t>
            </a:fld>
            <a:endParaRPr lang="en-US"/>
          </a:p>
        </p:txBody>
      </p:sp>
    </p:spTree>
    <p:extLst>
      <p:ext uri="{BB962C8B-B14F-4D97-AF65-F5344CB8AC3E}">
        <p14:creationId xmlns:p14="http://schemas.microsoft.com/office/powerpoint/2010/main" val="2039825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E8227-D5CB-80A1-8300-65C31E8684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94B0F6-41C5-04C9-F906-09F83EFF00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13ACAE-759F-F8FF-CEBB-589309B874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CDC8C4-2C47-4C62-653F-F710DAAFD333}"/>
              </a:ext>
            </a:extLst>
          </p:cNvPr>
          <p:cNvSpPr>
            <a:spLocks noGrp="1"/>
          </p:cNvSpPr>
          <p:nvPr>
            <p:ph type="sldNum" sz="quarter" idx="5"/>
          </p:nvPr>
        </p:nvSpPr>
        <p:spPr/>
        <p:txBody>
          <a:bodyPr/>
          <a:lstStyle/>
          <a:p>
            <a:fld id="{F6DEDAFB-2BDB-624B-9CA2-713EB7A1676D}" type="slidenum">
              <a:rPr lang="en-US" smtClean="0"/>
              <a:t>4</a:t>
            </a:fld>
            <a:endParaRPr lang="en-US"/>
          </a:p>
        </p:txBody>
      </p:sp>
    </p:spTree>
    <p:extLst>
      <p:ext uri="{BB962C8B-B14F-4D97-AF65-F5344CB8AC3E}">
        <p14:creationId xmlns:p14="http://schemas.microsoft.com/office/powerpoint/2010/main" val="1915247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CFC52-37EE-7063-671C-3C26071D7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8B991-E1B9-7C20-939E-1CA0FE620D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33AE44-2FB9-28F8-CE0D-2172035A25EA}"/>
              </a:ext>
            </a:extLst>
          </p:cNvPr>
          <p:cNvSpPr>
            <a:spLocks noGrp="1"/>
          </p:cNvSpPr>
          <p:nvPr>
            <p:ph type="body" idx="1"/>
          </p:nvPr>
        </p:nvSpPr>
        <p:spPr/>
        <p:txBody>
          <a:bodyPr/>
          <a:lstStyle/>
          <a:p>
            <a:r>
              <a:rPr lang="en-US" dirty="0"/>
              <a:t>How the client is performing with respect to the ideal system</a:t>
            </a:r>
          </a:p>
          <a:p>
            <a:endParaRPr lang="en-US" dirty="0"/>
          </a:p>
          <a:p>
            <a:r>
              <a:rPr lang="en-US" dirty="0"/>
              <a:t>What pos/neg lag mean</a:t>
            </a:r>
          </a:p>
          <a:p>
            <a:endParaRPr lang="en-US" dirty="0"/>
          </a:p>
          <a:p>
            <a:r>
              <a:rPr lang="en-US" dirty="0"/>
              <a:t>Keep in mind that ideal allocation changes a lot when you’ve got a lot of clients in the system</a:t>
            </a:r>
          </a:p>
        </p:txBody>
      </p:sp>
      <p:sp>
        <p:nvSpPr>
          <p:cNvPr id="4" name="Slide Number Placeholder 3">
            <a:extLst>
              <a:ext uri="{FF2B5EF4-FFF2-40B4-BE49-F238E27FC236}">
                <a16:creationId xmlns:a16="http://schemas.microsoft.com/office/drawing/2014/main" id="{E1EEE1E6-5302-CF5D-78DB-4D407339425F}"/>
              </a:ext>
            </a:extLst>
          </p:cNvPr>
          <p:cNvSpPr>
            <a:spLocks noGrp="1"/>
          </p:cNvSpPr>
          <p:nvPr>
            <p:ph type="sldNum" sz="quarter" idx="5"/>
          </p:nvPr>
        </p:nvSpPr>
        <p:spPr/>
        <p:txBody>
          <a:bodyPr/>
          <a:lstStyle/>
          <a:p>
            <a:fld id="{F6DEDAFB-2BDB-624B-9CA2-713EB7A1676D}" type="slidenum">
              <a:rPr lang="en-US" smtClean="0"/>
              <a:t>5</a:t>
            </a:fld>
            <a:endParaRPr lang="en-US"/>
          </a:p>
        </p:txBody>
      </p:sp>
    </p:spTree>
    <p:extLst>
      <p:ext uri="{BB962C8B-B14F-4D97-AF65-F5344CB8AC3E}">
        <p14:creationId xmlns:p14="http://schemas.microsoft.com/office/powerpoint/2010/main" val="264798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DEDAFB-2BDB-624B-9CA2-713EB7A1676D}" type="slidenum">
              <a:rPr lang="en-US" smtClean="0"/>
              <a:t>6</a:t>
            </a:fld>
            <a:endParaRPr lang="en-US"/>
          </a:p>
        </p:txBody>
      </p:sp>
    </p:spTree>
    <p:extLst>
      <p:ext uri="{BB962C8B-B14F-4D97-AF65-F5344CB8AC3E}">
        <p14:creationId xmlns:p14="http://schemas.microsoft.com/office/powerpoint/2010/main" val="3285042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clients that just issue subsequent requests, have this set of equations. Pretty directly useful, simpler way of looking at things</a:t>
            </a:r>
          </a:p>
          <a:p>
            <a:endParaRPr lang="en-US" dirty="0"/>
          </a:p>
          <a:p>
            <a:r>
              <a:rPr lang="en-US" dirty="0"/>
              <a:t>W1=1, w2=2</a:t>
            </a:r>
          </a:p>
          <a:p>
            <a:r>
              <a:rPr lang="en-US" dirty="0"/>
              <a:t>Q=1</a:t>
            </a:r>
          </a:p>
          <a:p>
            <a:r>
              <a:rPr lang="en-US" dirty="0"/>
              <a:t>T2 joins at t=1</a:t>
            </a:r>
          </a:p>
          <a:p>
            <a:r>
              <a:rPr lang="en-US" dirty="0"/>
              <a:t>Virtual time mapping changes</a:t>
            </a:r>
          </a:p>
          <a:p>
            <a:endParaRPr lang="en-US" dirty="0"/>
          </a:p>
          <a:p>
            <a:r>
              <a:rPr lang="en-US" dirty="0"/>
              <a:t>Lag of client 1 at time 1 is zero</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6DEDAFB-2BDB-624B-9CA2-713EB7A1676D}" type="slidenum">
              <a:rPr lang="en-US" smtClean="0"/>
              <a:t>8</a:t>
            </a:fld>
            <a:endParaRPr lang="en-US"/>
          </a:p>
        </p:txBody>
      </p:sp>
    </p:spTree>
    <p:extLst>
      <p:ext uri="{BB962C8B-B14F-4D97-AF65-F5344CB8AC3E}">
        <p14:creationId xmlns:p14="http://schemas.microsoft.com/office/powerpoint/2010/main" val="3948294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can leave, join, change weight at any time</a:t>
            </a:r>
          </a:p>
          <a:p>
            <a:endParaRPr lang="en-US" dirty="0"/>
          </a:p>
          <a:p>
            <a:r>
              <a:rPr lang="en-US" dirty="0"/>
              <a:t>Trivial to support them in a fluid system, but, again, we run into issues with discreet allocation in the real world</a:t>
            </a:r>
          </a:p>
          <a:p>
            <a:endParaRPr lang="en-US" dirty="0"/>
          </a:p>
          <a:p>
            <a:r>
              <a:rPr lang="en-US" dirty="0"/>
              <a:t>WHY IS IT IMPORTANT TO ALLOW DYNAMIC OPERATIONS AT NON-ZERO LAG POINTS?</a:t>
            </a:r>
          </a:p>
          <a:p>
            <a:r>
              <a:rPr lang="en-US" dirty="0"/>
              <a:t>Responsive systems, delaying the joining of a latency sensitive client or to idle if something doesn’t use all of its time slice</a:t>
            </a:r>
          </a:p>
          <a:p>
            <a:r>
              <a:rPr lang="en-US" dirty="0"/>
              <a:t>Responsiveness is a high-class concern</a:t>
            </a:r>
          </a:p>
          <a:p>
            <a:r>
              <a:rPr lang="en-US" dirty="0"/>
              <a:t>Ability for a client to not use all of its request time and not be punished allows request time to become a latency parameter</a:t>
            </a:r>
          </a:p>
          <a:p>
            <a:endParaRPr lang="en-US" dirty="0"/>
          </a:p>
          <a:p>
            <a:r>
              <a:rPr lang="en-US" dirty="0"/>
              <a:t>If clients leave with 0 lag, these reduce to no update</a:t>
            </a:r>
          </a:p>
          <a:p>
            <a:endParaRPr lang="en-US" dirty="0"/>
          </a:p>
        </p:txBody>
      </p:sp>
      <p:sp>
        <p:nvSpPr>
          <p:cNvPr id="4" name="Slide Number Placeholder 3"/>
          <p:cNvSpPr>
            <a:spLocks noGrp="1"/>
          </p:cNvSpPr>
          <p:nvPr>
            <p:ph type="sldNum" sz="quarter" idx="5"/>
          </p:nvPr>
        </p:nvSpPr>
        <p:spPr/>
        <p:txBody>
          <a:bodyPr/>
          <a:lstStyle/>
          <a:p>
            <a:fld id="{F6DEDAFB-2BDB-624B-9CA2-713EB7A1676D}" type="slidenum">
              <a:rPr lang="en-US" smtClean="0"/>
              <a:t>9</a:t>
            </a:fld>
            <a:endParaRPr lang="en-US"/>
          </a:p>
        </p:txBody>
      </p:sp>
    </p:spTree>
    <p:extLst>
      <p:ext uri="{BB962C8B-B14F-4D97-AF65-F5344CB8AC3E}">
        <p14:creationId xmlns:p14="http://schemas.microsoft.com/office/powerpoint/2010/main" val="4159979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D6014-7A87-67B3-469B-5C5C3F742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94583-6E46-6762-D71F-D64B049FF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8425DD-8D7A-135F-F6F7-DC83C0FA98AA}"/>
              </a:ext>
            </a:extLst>
          </p:cNvPr>
          <p:cNvSpPr>
            <a:spLocks noGrp="1"/>
          </p:cNvSpPr>
          <p:nvPr>
            <p:ph type="body" idx="1"/>
          </p:nvPr>
        </p:nvSpPr>
        <p:spPr/>
        <p:txBody>
          <a:bodyPr/>
          <a:lstStyle/>
          <a:p>
            <a:r>
              <a:rPr lang="en-US" dirty="0"/>
              <a:t>Quantum size 1.</a:t>
            </a:r>
          </a:p>
          <a:p>
            <a:r>
              <a:rPr lang="en-US" dirty="0"/>
              <a:t>3 clients, equal weights</a:t>
            </a:r>
          </a:p>
          <a:p>
            <a:r>
              <a:rPr lang="en-US" dirty="0"/>
              <a:t>Issue requests of size 1 continuously after first issuing them at t=0</a:t>
            </a:r>
          </a:p>
          <a:p>
            <a:r>
              <a:rPr lang="en-US" dirty="0"/>
              <a:t>CLIENT T3 leaves with positive lag at t=2</a:t>
            </a:r>
          </a:p>
          <a:p>
            <a:r>
              <a:rPr lang="en-US" dirty="0"/>
              <a:t>at time T=2, each client has executed in the fluid schedule for 2/3 time units</a:t>
            </a:r>
          </a:p>
          <a:p>
            <a:r>
              <a:rPr lang="en-US" dirty="0"/>
              <a:t>Only t1, t2 have been allocated time on the processor</a:t>
            </a:r>
          </a:p>
          <a:p>
            <a:r>
              <a:rPr lang="en-US" dirty="0"/>
              <a:t>Lag3(2) = 2/3, lag1(2)=lag2(2)=-1/3</a:t>
            </a:r>
          </a:p>
        </p:txBody>
      </p:sp>
      <p:sp>
        <p:nvSpPr>
          <p:cNvPr id="4" name="Slide Number Placeholder 3">
            <a:extLst>
              <a:ext uri="{FF2B5EF4-FFF2-40B4-BE49-F238E27FC236}">
                <a16:creationId xmlns:a16="http://schemas.microsoft.com/office/drawing/2014/main" id="{E05D14D2-1710-6BB2-04EE-EF261EDD58C7}"/>
              </a:ext>
            </a:extLst>
          </p:cNvPr>
          <p:cNvSpPr>
            <a:spLocks noGrp="1"/>
          </p:cNvSpPr>
          <p:nvPr>
            <p:ph type="sldNum" sz="quarter" idx="5"/>
          </p:nvPr>
        </p:nvSpPr>
        <p:spPr/>
        <p:txBody>
          <a:bodyPr/>
          <a:lstStyle/>
          <a:p>
            <a:fld id="{F6DEDAFB-2BDB-624B-9CA2-713EB7A1676D}" type="slidenum">
              <a:rPr lang="en-US" smtClean="0"/>
              <a:t>10</a:t>
            </a:fld>
            <a:endParaRPr lang="en-US"/>
          </a:p>
        </p:txBody>
      </p:sp>
    </p:spTree>
    <p:extLst>
      <p:ext uri="{BB962C8B-B14F-4D97-AF65-F5344CB8AC3E}">
        <p14:creationId xmlns:p14="http://schemas.microsoft.com/office/powerpoint/2010/main" val="2411578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958D9-1908-AB4F-CBFA-4AF36742C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886705-789B-8DF9-BAA2-B301481FC1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9F351B-8CAF-2146-48ED-DC20D8E6174A}"/>
              </a:ext>
            </a:extLst>
          </p:cNvPr>
          <p:cNvSpPr>
            <a:spLocks noGrp="1"/>
          </p:cNvSpPr>
          <p:nvPr>
            <p:ph type="body" idx="1"/>
          </p:nvPr>
        </p:nvSpPr>
        <p:spPr/>
        <p:txBody>
          <a:bodyPr/>
          <a:lstStyle/>
          <a:p>
            <a:r>
              <a:rPr lang="en-US" dirty="0"/>
              <a:t>At the moment that client 3 leaves, LAG INVARIANT IS VIOLATED</a:t>
            </a:r>
          </a:p>
          <a:p>
            <a:endParaRPr lang="en-US" dirty="0"/>
          </a:p>
          <a:p>
            <a:r>
              <a:rPr lang="en-US" dirty="0"/>
              <a:t>Virtual time continues to tick along, this time at a rate of ½ that of real time, so after 2/3 real time units, the ideal time added is 1/3, lags hit zero at 2 2/3 but are negative before that, meaning they’re both ineligible</a:t>
            </a:r>
          </a:p>
          <a:p>
            <a:endParaRPr lang="en-US" dirty="0"/>
          </a:p>
          <a:p>
            <a:r>
              <a:rPr lang="en-US" dirty="0"/>
              <a:t>We get system idling</a:t>
            </a:r>
          </a:p>
          <a:p>
            <a:endParaRPr lang="en-US" dirty="0"/>
          </a:p>
        </p:txBody>
      </p:sp>
      <p:sp>
        <p:nvSpPr>
          <p:cNvPr id="4" name="Slide Number Placeholder 3">
            <a:extLst>
              <a:ext uri="{FF2B5EF4-FFF2-40B4-BE49-F238E27FC236}">
                <a16:creationId xmlns:a16="http://schemas.microsoft.com/office/drawing/2014/main" id="{D56A4A87-3C16-FB3A-B8BA-0EE0E7753C1E}"/>
              </a:ext>
            </a:extLst>
          </p:cNvPr>
          <p:cNvSpPr>
            <a:spLocks noGrp="1"/>
          </p:cNvSpPr>
          <p:nvPr>
            <p:ph type="sldNum" sz="quarter" idx="5"/>
          </p:nvPr>
        </p:nvSpPr>
        <p:spPr/>
        <p:txBody>
          <a:bodyPr/>
          <a:lstStyle/>
          <a:p>
            <a:fld id="{F6DEDAFB-2BDB-624B-9CA2-713EB7A1676D}" type="slidenum">
              <a:rPr lang="en-US" smtClean="0"/>
              <a:t>11</a:t>
            </a:fld>
            <a:endParaRPr lang="en-US"/>
          </a:p>
        </p:txBody>
      </p:sp>
    </p:spTree>
    <p:extLst>
      <p:ext uri="{BB962C8B-B14F-4D97-AF65-F5344CB8AC3E}">
        <p14:creationId xmlns:p14="http://schemas.microsoft.com/office/powerpoint/2010/main" val="2817231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3A050-98D0-D505-D3FB-42C442177D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7B1E67-B84F-814B-FDF2-71D25ACE2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30F5E9-3A4D-B58C-0C6B-46783021B1DC}"/>
              </a:ext>
            </a:extLst>
          </p:cNvPr>
          <p:cNvSpPr>
            <a:spLocks noGrp="1"/>
          </p:cNvSpPr>
          <p:nvPr>
            <p:ph type="body" idx="1"/>
          </p:nvPr>
        </p:nvSpPr>
        <p:spPr/>
        <p:txBody>
          <a:bodyPr/>
          <a:lstStyle/>
          <a:p>
            <a:r>
              <a:rPr lang="en-US" dirty="0"/>
              <a:t>We avoid this on the right by using rule 1 and updating virtual time</a:t>
            </a:r>
          </a:p>
          <a:p>
            <a:endParaRPr lang="en-US" dirty="0"/>
          </a:p>
          <a:p>
            <a:r>
              <a:rPr lang="en-US" dirty="0"/>
              <a:t>Now, t1,t2 are eligible to be scheduled at time 2</a:t>
            </a:r>
          </a:p>
          <a:p>
            <a:endParaRPr lang="en-US" dirty="0"/>
          </a:p>
          <a:p>
            <a:r>
              <a:rPr lang="en-US" dirty="0"/>
              <a:t>In the positive lag leaving case, we can think of rule 1 as “skipping ahead” in virtual time to avoid the processor idling</a:t>
            </a:r>
          </a:p>
          <a:p>
            <a:endParaRPr lang="en-US" dirty="0"/>
          </a:p>
          <a:p>
            <a:r>
              <a:rPr lang="en-US" dirty="0"/>
              <a:t>The other cases all have similar intuitions, just redistributing lag </a:t>
            </a:r>
          </a:p>
          <a:p>
            <a:endParaRPr lang="en-US" dirty="0"/>
          </a:p>
        </p:txBody>
      </p:sp>
      <p:sp>
        <p:nvSpPr>
          <p:cNvPr id="4" name="Slide Number Placeholder 3">
            <a:extLst>
              <a:ext uri="{FF2B5EF4-FFF2-40B4-BE49-F238E27FC236}">
                <a16:creationId xmlns:a16="http://schemas.microsoft.com/office/drawing/2014/main" id="{6C4A2B7B-0A76-041B-04D0-79F55F00C9C6}"/>
              </a:ext>
            </a:extLst>
          </p:cNvPr>
          <p:cNvSpPr>
            <a:spLocks noGrp="1"/>
          </p:cNvSpPr>
          <p:nvPr>
            <p:ph type="sldNum" sz="quarter" idx="5"/>
          </p:nvPr>
        </p:nvSpPr>
        <p:spPr/>
        <p:txBody>
          <a:bodyPr/>
          <a:lstStyle/>
          <a:p>
            <a:fld id="{F6DEDAFB-2BDB-624B-9CA2-713EB7A1676D}" type="slidenum">
              <a:rPr lang="en-US" smtClean="0"/>
              <a:t>12</a:t>
            </a:fld>
            <a:endParaRPr lang="en-US"/>
          </a:p>
        </p:txBody>
      </p:sp>
    </p:spTree>
    <p:extLst>
      <p:ext uri="{BB962C8B-B14F-4D97-AF65-F5344CB8AC3E}">
        <p14:creationId xmlns:p14="http://schemas.microsoft.com/office/powerpoint/2010/main" val="2151217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30AA2-A612-1C37-C52B-99A57F964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584E9-6409-877A-8010-A9B84AAC48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229A3-66B0-0EB1-97F0-362AB4BAEF9E}"/>
              </a:ext>
            </a:extLst>
          </p:cNvPr>
          <p:cNvSpPr>
            <a:spLocks noGrp="1"/>
          </p:cNvSpPr>
          <p:nvPr>
            <p:ph type="body" idx="1"/>
          </p:nvPr>
        </p:nvSpPr>
        <p:spPr/>
        <p:txBody>
          <a:bodyPr/>
          <a:lstStyle/>
          <a:p>
            <a:r>
              <a:rPr lang="en-US" dirty="0"/>
              <a:t>I won’t go through the derivation, but these rules are actually a consequence of this invariant</a:t>
            </a:r>
          </a:p>
          <a:p>
            <a:endParaRPr lang="en-US" dirty="0"/>
          </a:p>
          <a:p>
            <a:r>
              <a:rPr lang="en-US" dirty="0"/>
              <a:t>This is an invariant that matters to us because if it does not hold, the service time provided to clients in the ideal system is not the same as the service time provided to clients in the actual system, and the systems are no longer comparable; the lag of a client no longer refers to something meaningful.</a:t>
            </a:r>
          </a:p>
        </p:txBody>
      </p:sp>
      <p:sp>
        <p:nvSpPr>
          <p:cNvPr id="4" name="Slide Number Placeholder 3">
            <a:extLst>
              <a:ext uri="{FF2B5EF4-FFF2-40B4-BE49-F238E27FC236}">
                <a16:creationId xmlns:a16="http://schemas.microsoft.com/office/drawing/2014/main" id="{1E6A54B2-0A9B-7C79-7002-BE80979B7A1B}"/>
              </a:ext>
            </a:extLst>
          </p:cNvPr>
          <p:cNvSpPr>
            <a:spLocks noGrp="1"/>
          </p:cNvSpPr>
          <p:nvPr>
            <p:ph type="sldNum" sz="quarter" idx="5"/>
          </p:nvPr>
        </p:nvSpPr>
        <p:spPr/>
        <p:txBody>
          <a:bodyPr/>
          <a:lstStyle/>
          <a:p>
            <a:fld id="{F6DEDAFB-2BDB-624B-9CA2-713EB7A1676D}" type="slidenum">
              <a:rPr lang="en-US" smtClean="0"/>
              <a:t>13</a:t>
            </a:fld>
            <a:endParaRPr lang="en-US"/>
          </a:p>
        </p:txBody>
      </p:sp>
    </p:spTree>
    <p:extLst>
      <p:ext uri="{BB962C8B-B14F-4D97-AF65-F5344CB8AC3E}">
        <p14:creationId xmlns:p14="http://schemas.microsoft.com/office/powerpoint/2010/main" val="1427315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90FB3-B148-AFA0-AEDE-7364829955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6FABE7-3D66-CADF-8F1F-F1BDFC813E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E2CDAE-CF68-86E0-2904-32F84E20875E}"/>
              </a:ext>
            </a:extLst>
          </p:cNvPr>
          <p:cNvSpPr>
            <a:spLocks noGrp="1"/>
          </p:cNvSpPr>
          <p:nvPr>
            <p:ph type="body" idx="1"/>
          </p:nvPr>
        </p:nvSpPr>
        <p:spPr/>
        <p:txBody>
          <a:bodyPr/>
          <a:lstStyle/>
          <a:p>
            <a:r>
              <a:rPr lang="en-US" dirty="0"/>
              <a:t>\Many implementations use only a subset of these rules</a:t>
            </a:r>
          </a:p>
          <a:p>
            <a:endParaRPr lang="en-US" dirty="0"/>
          </a:p>
          <a:p>
            <a:r>
              <a:rPr lang="en-US" dirty="0"/>
              <a:t>1995:</a:t>
            </a:r>
          </a:p>
          <a:p>
            <a:pPr marL="228600" indent="-228600">
              <a:buAutoNum type="arabicPeriod"/>
            </a:pPr>
            <a:r>
              <a:rPr lang="en-US" dirty="0"/>
              <a:t>Use R1, R2</a:t>
            </a:r>
          </a:p>
          <a:p>
            <a:pPr marL="228600" indent="-228600">
              <a:buAutoNum type="arabicPeriod"/>
            </a:pPr>
            <a:r>
              <a:rPr lang="en-US" dirty="0"/>
              <a:t>Apply R1 when a client leaves but forget upon rejoining</a:t>
            </a:r>
          </a:p>
          <a:p>
            <a:pPr marL="228600" indent="-228600">
              <a:buAutoNum type="arabicPeriod"/>
            </a:pPr>
            <a:r>
              <a:rPr lang="en-US" dirty="0"/>
              <a:t>Only leave/come back when lag=01</a:t>
            </a:r>
          </a:p>
          <a:p>
            <a:endParaRPr lang="en-US" dirty="0"/>
          </a:p>
          <a:p>
            <a:endParaRPr lang="en-US" dirty="0"/>
          </a:p>
          <a:p>
            <a:r>
              <a:rPr lang="en-US" dirty="0"/>
              <a:t>1996:</a:t>
            </a:r>
          </a:p>
          <a:p>
            <a:r>
              <a:rPr lang="en-US" dirty="0"/>
              <a:t>Clients that leave with positive lag use R1. clients that leave with negative lag are delayed in the background until their lag is 0 – dummy req</a:t>
            </a:r>
          </a:p>
          <a:p>
            <a:r>
              <a:rPr lang="en-US" dirty="0"/>
              <a:t>Lag is forgotten on rejoin</a:t>
            </a:r>
          </a:p>
          <a:p>
            <a:endParaRPr lang="en-US" dirty="0"/>
          </a:p>
          <a:p>
            <a:r>
              <a:rPr lang="en-US" dirty="0"/>
              <a:t>Linux:</a:t>
            </a:r>
          </a:p>
          <a:p>
            <a:r>
              <a:rPr lang="en-US" dirty="0"/>
              <a:t>Leave/join at any point in time </a:t>
            </a:r>
          </a:p>
          <a:p>
            <a:r>
              <a:rPr lang="en-US" dirty="0"/>
              <a:t>pos lag retained indefinitely</a:t>
            </a:r>
          </a:p>
          <a:p>
            <a:r>
              <a:rPr lang="en-US" dirty="0"/>
              <a:t>Neg lag decayed at the rate of virtual time</a:t>
            </a:r>
          </a:p>
          <a:p>
            <a:r>
              <a:rPr lang="en-US" dirty="0"/>
              <a:t>Rules R1, R2 are indirectly applied – they are referenced in the code, but everything is done a bit more </a:t>
            </a:r>
            <a:r>
              <a:rPr lang="en-US" dirty="0" err="1"/>
              <a:t>crudly</a:t>
            </a:r>
            <a:r>
              <a:rPr lang="en-US" dirty="0"/>
              <a:t>, using </a:t>
            </a:r>
            <a:r>
              <a:rPr lang="en-US" dirty="0" err="1"/>
              <a:t>vruntime</a:t>
            </a:r>
            <a:r>
              <a:rPr lang="en-US" dirty="0"/>
              <a:t> and no central value of virtual time</a:t>
            </a:r>
          </a:p>
        </p:txBody>
      </p:sp>
      <p:sp>
        <p:nvSpPr>
          <p:cNvPr id="4" name="Slide Number Placeholder 3">
            <a:extLst>
              <a:ext uri="{FF2B5EF4-FFF2-40B4-BE49-F238E27FC236}">
                <a16:creationId xmlns:a16="http://schemas.microsoft.com/office/drawing/2014/main" id="{E75E7AF7-3FDF-4C86-0527-DED71B83E8D8}"/>
              </a:ext>
            </a:extLst>
          </p:cNvPr>
          <p:cNvSpPr>
            <a:spLocks noGrp="1"/>
          </p:cNvSpPr>
          <p:nvPr>
            <p:ph type="sldNum" sz="quarter" idx="5"/>
          </p:nvPr>
        </p:nvSpPr>
        <p:spPr/>
        <p:txBody>
          <a:bodyPr/>
          <a:lstStyle/>
          <a:p>
            <a:fld id="{F6DEDAFB-2BDB-624B-9CA2-713EB7A1676D}" type="slidenum">
              <a:rPr lang="en-US" smtClean="0"/>
              <a:t>14</a:t>
            </a:fld>
            <a:endParaRPr lang="en-US"/>
          </a:p>
        </p:txBody>
      </p:sp>
    </p:spTree>
    <p:extLst>
      <p:ext uri="{BB962C8B-B14F-4D97-AF65-F5344CB8AC3E}">
        <p14:creationId xmlns:p14="http://schemas.microsoft.com/office/powerpoint/2010/main" val="25005162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CFS -&gt; EEVDF </a:t>
            </a:r>
          </a:p>
          <a:p>
            <a:endParaRPr lang="en-US" dirty="0"/>
          </a:p>
          <a:p>
            <a:r>
              <a:rPr lang="en-US" dirty="0"/>
              <a:t>Lots of CFS structures are still around</a:t>
            </a:r>
          </a:p>
          <a:p>
            <a:endParaRPr lang="en-US" dirty="0"/>
          </a:p>
          <a:p>
            <a:r>
              <a:rPr lang="en-US" dirty="0"/>
              <a:t>CFS basically a red black tree sorted by least </a:t>
            </a:r>
            <a:r>
              <a:rPr lang="en-US" dirty="0" err="1"/>
              <a:t>vruntime</a:t>
            </a:r>
            <a:endParaRPr lang="en-US" dirty="0"/>
          </a:p>
          <a:p>
            <a:endParaRPr lang="en-US" dirty="0"/>
          </a:p>
          <a:p>
            <a:r>
              <a:rPr lang="en-US" dirty="0"/>
              <a:t>Now, we’re using </a:t>
            </a:r>
            <a:r>
              <a:rPr lang="en-US" dirty="0" err="1"/>
              <a:t>vruntime</a:t>
            </a:r>
            <a:r>
              <a:rPr lang="en-US" dirty="0"/>
              <a:t> as a parameter to calculate lag, and sorting the </a:t>
            </a:r>
            <a:r>
              <a:rPr lang="en-US" dirty="0" err="1"/>
              <a:t>rb</a:t>
            </a:r>
            <a:r>
              <a:rPr lang="en-US" dirty="0"/>
              <a:t> tree by virtual deadline</a:t>
            </a:r>
          </a:p>
        </p:txBody>
      </p:sp>
      <p:sp>
        <p:nvSpPr>
          <p:cNvPr id="4" name="Slide Number Placeholder 3"/>
          <p:cNvSpPr>
            <a:spLocks noGrp="1"/>
          </p:cNvSpPr>
          <p:nvPr>
            <p:ph type="sldNum" sz="quarter" idx="5"/>
          </p:nvPr>
        </p:nvSpPr>
        <p:spPr/>
        <p:txBody>
          <a:bodyPr/>
          <a:lstStyle/>
          <a:p>
            <a:fld id="{F6DEDAFB-2BDB-624B-9CA2-713EB7A1676D}" type="slidenum">
              <a:rPr lang="en-US" smtClean="0"/>
              <a:t>15</a:t>
            </a:fld>
            <a:endParaRPr lang="en-US"/>
          </a:p>
        </p:txBody>
      </p:sp>
    </p:spTree>
    <p:extLst>
      <p:ext uri="{BB962C8B-B14F-4D97-AF65-F5344CB8AC3E}">
        <p14:creationId xmlns:p14="http://schemas.microsoft.com/office/powerpoint/2010/main" val="37972374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6358D-E740-D293-33AE-C52AC70909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C5B18-4013-5766-4DB1-5DD6B30234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C9B91A-D0AB-DAA9-17C7-83803D4985AF}"/>
              </a:ext>
            </a:extLst>
          </p:cNvPr>
          <p:cNvSpPr>
            <a:spLocks noGrp="1"/>
          </p:cNvSpPr>
          <p:nvPr>
            <p:ph type="body" idx="1"/>
          </p:nvPr>
        </p:nvSpPr>
        <p:spPr/>
        <p:txBody>
          <a:bodyPr/>
          <a:lstStyle/>
          <a:p>
            <a:r>
              <a:rPr lang="en-US" dirty="0"/>
              <a:t>Rb – ordered by virtual deadline, O(log n). Picks leftmost eligible node</a:t>
            </a:r>
          </a:p>
          <a:p>
            <a:endParaRPr lang="en-US" dirty="0"/>
          </a:p>
          <a:p>
            <a:r>
              <a:rPr lang="en-US" dirty="0"/>
              <a:t>DEFFERED DEQUEUE – IMPLEMENTATION OF decaying negative lag</a:t>
            </a:r>
          </a:p>
          <a:p>
            <a:endParaRPr lang="en-US" dirty="0"/>
          </a:p>
          <a:p>
            <a:r>
              <a:rPr lang="en-US" dirty="0"/>
              <a:t>Why? latency</a:t>
            </a:r>
          </a:p>
          <a:p>
            <a:endParaRPr lang="en-US" dirty="0"/>
          </a:p>
          <a:p>
            <a:r>
              <a:rPr lang="en-US" dirty="0"/>
              <a:t>Put deadline equation up there, mapping between concepts</a:t>
            </a:r>
          </a:p>
        </p:txBody>
      </p:sp>
      <p:sp>
        <p:nvSpPr>
          <p:cNvPr id="4" name="Slide Number Placeholder 3">
            <a:extLst>
              <a:ext uri="{FF2B5EF4-FFF2-40B4-BE49-F238E27FC236}">
                <a16:creationId xmlns:a16="http://schemas.microsoft.com/office/drawing/2014/main" id="{A3A9D7C3-BB36-D602-98A2-FC0A3871F446}"/>
              </a:ext>
            </a:extLst>
          </p:cNvPr>
          <p:cNvSpPr>
            <a:spLocks noGrp="1"/>
          </p:cNvSpPr>
          <p:nvPr>
            <p:ph type="sldNum" sz="quarter" idx="5"/>
          </p:nvPr>
        </p:nvSpPr>
        <p:spPr/>
        <p:txBody>
          <a:bodyPr/>
          <a:lstStyle/>
          <a:p>
            <a:fld id="{F6DEDAFB-2BDB-624B-9CA2-713EB7A1676D}" type="slidenum">
              <a:rPr lang="en-US" smtClean="0"/>
              <a:t>16</a:t>
            </a:fld>
            <a:endParaRPr lang="en-US"/>
          </a:p>
        </p:txBody>
      </p:sp>
    </p:spTree>
    <p:extLst>
      <p:ext uri="{BB962C8B-B14F-4D97-AF65-F5344CB8AC3E}">
        <p14:creationId xmlns:p14="http://schemas.microsoft.com/office/powerpoint/2010/main" val="2904201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Consolidated a lot of existing results, a few fixes/mathematics results that weren’t there before</a:t>
            </a:r>
          </a:p>
        </p:txBody>
      </p:sp>
      <p:sp>
        <p:nvSpPr>
          <p:cNvPr id="4" name="Slide Number Placeholder 3"/>
          <p:cNvSpPr>
            <a:spLocks noGrp="1"/>
          </p:cNvSpPr>
          <p:nvPr>
            <p:ph type="sldNum" sz="quarter" idx="5"/>
          </p:nvPr>
        </p:nvSpPr>
        <p:spPr/>
        <p:txBody>
          <a:bodyPr/>
          <a:lstStyle/>
          <a:p>
            <a:fld id="{F6DEDAFB-2BDB-624B-9CA2-713EB7A1676D}" type="slidenum">
              <a:rPr lang="en-US" smtClean="0"/>
              <a:t>17</a:t>
            </a:fld>
            <a:endParaRPr lang="en-US"/>
          </a:p>
        </p:txBody>
      </p:sp>
    </p:spTree>
    <p:extLst>
      <p:ext uri="{BB962C8B-B14F-4D97-AF65-F5344CB8AC3E}">
        <p14:creationId xmlns:p14="http://schemas.microsoft.com/office/powerpoint/2010/main" val="3293047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right now there is a line of code that manually makes sure lag never exceeds bounds instead of it falling out of the implementation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lot of the promise of using EEVDF instead of CFS was that it would more naturally handle processes of varying latency. This does happen because I/O tasks that do not use all their time quantum are like usually always eligible when they return, but there’s really limited mechanisms to affect your deadline</a:t>
            </a:r>
          </a:p>
          <a:p>
            <a:endParaRPr lang="en-US" dirty="0"/>
          </a:p>
        </p:txBody>
      </p:sp>
      <p:sp>
        <p:nvSpPr>
          <p:cNvPr id="4" name="Slide Number Placeholder 3"/>
          <p:cNvSpPr>
            <a:spLocks noGrp="1"/>
          </p:cNvSpPr>
          <p:nvPr>
            <p:ph type="sldNum" sz="quarter" idx="5"/>
          </p:nvPr>
        </p:nvSpPr>
        <p:spPr/>
        <p:txBody>
          <a:bodyPr/>
          <a:lstStyle/>
          <a:p>
            <a:fld id="{F6DEDAFB-2BDB-624B-9CA2-713EB7A1676D}" type="slidenum">
              <a:rPr lang="en-US" smtClean="0"/>
              <a:t>18</a:t>
            </a:fld>
            <a:endParaRPr lang="en-US"/>
          </a:p>
        </p:txBody>
      </p:sp>
    </p:spTree>
    <p:extLst>
      <p:ext uri="{BB962C8B-B14F-4D97-AF65-F5344CB8AC3E}">
        <p14:creationId xmlns:p14="http://schemas.microsoft.com/office/powerpoint/2010/main" val="3541943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098A0168-EB40-45AF-89A1-87DE0A55FFC6}" type="datetime1">
              <a:rPr lang="en-US" smtClean="0"/>
              <a:t>4/4/26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D2C36F-4504-47C0-B82F-A167342A2754}" type="slidenum">
              <a:rPr lang="en-US" smtClean="0"/>
              <a:t>‹#›</a:t>
            </a:fld>
            <a:endParaRPr lang="en-US"/>
          </a:p>
        </p:txBody>
      </p:sp>
    </p:spTree>
    <p:extLst>
      <p:ext uri="{BB962C8B-B14F-4D97-AF65-F5344CB8AC3E}">
        <p14:creationId xmlns:p14="http://schemas.microsoft.com/office/powerpoint/2010/main" val="199308742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0A88F0-556B-4BB7-8AAB-D63AEB65C662}" type="datetime1">
              <a:rPr lang="en-US" smtClean="0"/>
              <a:t>4/4/26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D2C36F-4504-47C0-B82F-A167342A2754}" type="slidenum">
              <a:rPr lang="en-US" smtClean="0"/>
              <a:t>‹#›</a:t>
            </a:fld>
            <a:endParaRPr lang="en-US"/>
          </a:p>
        </p:txBody>
      </p:sp>
    </p:spTree>
    <p:extLst>
      <p:ext uri="{BB962C8B-B14F-4D97-AF65-F5344CB8AC3E}">
        <p14:creationId xmlns:p14="http://schemas.microsoft.com/office/powerpoint/2010/main" val="2907519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60E05506-6815-4E0E-B1DE-ECA35C2016DF}" type="datetime1">
              <a:rPr lang="en-US" smtClean="0"/>
              <a:t>4/4/26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D2C36F-4504-47C0-B82F-A167342A2754}" type="slidenum">
              <a:rPr lang="en-US" smtClean="0"/>
              <a:t>‹#›</a:t>
            </a:fld>
            <a:endParaRPr lang="en-US"/>
          </a:p>
        </p:txBody>
      </p:sp>
    </p:spTree>
    <p:extLst>
      <p:ext uri="{BB962C8B-B14F-4D97-AF65-F5344CB8AC3E}">
        <p14:creationId xmlns:p14="http://schemas.microsoft.com/office/powerpoint/2010/main" val="401372196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FC6E85F7-A724-48A4-9D33-CEBC5174E865}" type="datetime1">
              <a:rPr lang="en-US" smtClean="0"/>
              <a:t>4/4/26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1D2C36F-4504-47C0-B82F-A167342A2754}" type="slidenum">
              <a:rPr lang="en-US" smtClean="0"/>
              <a:t>‹#›</a:t>
            </a:fld>
            <a:endParaRPr lang="en-US"/>
          </a:p>
        </p:txBody>
      </p:sp>
    </p:spTree>
    <p:extLst>
      <p:ext uri="{BB962C8B-B14F-4D97-AF65-F5344CB8AC3E}">
        <p14:creationId xmlns:p14="http://schemas.microsoft.com/office/powerpoint/2010/main" val="462355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CFBEA57F-793F-4683-BD8A-741FD4B89154}" type="datetime1">
              <a:rPr lang="en-US" smtClean="0"/>
              <a:t>4/4/26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1D2C36F-4504-47C0-B82F-A167342A2754}"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8739668"/>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D1540C-9440-4E7A-B71A-BEFEE06869E3}" type="datetime1">
              <a:rPr lang="en-US" smtClean="0"/>
              <a:t>4/4/26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D2C36F-4504-47C0-B82F-A167342A2754}" type="slidenum">
              <a:rPr lang="en-US" smtClean="0"/>
              <a:t>‹#›</a:t>
            </a:fld>
            <a:endParaRPr lang="en-US"/>
          </a:p>
        </p:txBody>
      </p:sp>
    </p:spTree>
    <p:extLst>
      <p:ext uri="{BB962C8B-B14F-4D97-AF65-F5344CB8AC3E}">
        <p14:creationId xmlns:p14="http://schemas.microsoft.com/office/powerpoint/2010/main" val="2082241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318DDB-88AC-4039-B59C-B05DC4C9C16C}" type="datetime1">
              <a:rPr lang="en-US" smtClean="0"/>
              <a:t>4/4/26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D2C36F-4504-47C0-B82F-A167342A2754}" type="slidenum">
              <a:rPr lang="en-US" smtClean="0"/>
              <a:t>‹#›</a:t>
            </a:fld>
            <a:endParaRPr lang="en-US"/>
          </a:p>
        </p:txBody>
      </p:sp>
    </p:spTree>
    <p:extLst>
      <p:ext uri="{BB962C8B-B14F-4D97-AF65-F5344CB8AC3E}">
        <p14:creationId xmlns:p14="http://schemas.microsoft.com/office/powerpoint/2010/main" val="1443603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E082ABFB-60E7-4BA1-866A-7059F058065B}" type="datetime1">
              <a:rPr lang="en-US" smtClean="0"/>
              <a:t>4/4/26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1D2C36F-4504-47C0-B82F-A167342A2754}" type="slidenum">
              <a:rPr lang="en-US" smtClean="0"/>
              <a:t>‹#›</a:t>
            </a:fld>
            <a:endParaRPr lang="en-US"/>
          </a:p>
        </p:txBody>
      </p:sp>
    </p:spTree>
    <p:extLst>
      <p:ext uri="{BB962C8B-B14F-4D97-AF65-F5344CB8AC3E}">
        <p14:creationId xmlns:p14="http://schemas.microsoft.com/office/powerpoint/2010/main" val="706655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2694112F-55F4-4776-A323-7418930321C8}" type="datetime1">
              <a:rPr lang="en-US" smtClean="0"/>
              <a:t>4/4/26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1D2C36F-4504-47C0-B82F-A167342A2754}" type="slidenum">
              <a:rPr lang="en-US" smtClean="0"/>
              <a:t>‹#›</a:t>
            </a:fld>
            <a:endParaRPr lang="en-US"/>
          </a:p>
        </p:txBody>
      </p:sp>
    </p:spTree>
    <p:extLst>
      <p:ext uri="{BB962C8B-B14F-4D97-AF65-F5344CB8AC3E}">
        <p14:creationId xmlns:p14="http://schemas.microsoft.com/office/powerpoint/2010/main" val="1022283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8CA68F-747D-436A-B5BB-2EBC3ED499E4}" type="datetime1">
              <a:rPr lang="en-US" smtClean="0"/>
              <a:t>4/4/26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D2C36F-4504-47C0-B82F-A167342A2754}" type="slidenum">
              <a:rPr lang="en-US" smtClean="0"/>
              <a:t>‹#›</a:t>
            </a:fld>
            <a:endParaRPr lang="en-US"/>
          </a:p>
        </p:txBody>
      </p:sp>
    </p:spTree>
    <p:extLst>
      <p:ext uri="{BB962C8B-B14F-4D97-AF65-F5344CB8AC3E}">
        <p14:creationId xmlns:p14="http://schemas.microsoft.com/office/powerpoint/2010/main" val="2923074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D8DC11-9E39-40A0-B3DC-E3F2AD04A616}" type="datetime1">
              <a:rPr lang="en-US" smtClean="0"/>
              <a:t>4/4/26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D2C36F-4504-47C0-B82F-A167342A2754}" type="slidenum">
              <a:rPr lang="en-US" smtClean="0"/>
              <a:t>‹#›</a:t>
            </a:fld>
            <a:endParaRPr lang="en-US"/>
          </a:p>
        </p:txBody>
      </p:sp>
    </p:spTree>
    <p:extLst>
      <p:ext uri="{BB962C8B-B14F-4D97-AF65-F5344CB8AC3E}">
        <p14:creationId xmlns:p14="http://schemas.microsoft.com/office/powerpoint/2010/main" val="1977237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CFBEA57F-793F-4683-BD8A-741FD4B89154}" type="datetime1">
              <a:rPr lang="en-US" smtClean="0"/>
              <a:t>4/4/26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1D2C36F-4504-47C0-B82F-A167342A2754}" type="slidenum">
              <a:rPr lang="en-US" smtClean="0"/>
              <a:t>‹#›</a:t>
            </a:fld>
            <a:endParaRPr lang="en-US" dirty="0"/>
          </a:p>
        </p:txBody>
      </p:sp>
    </p:spTree>
    <p:extLst>
      <p:ext uri="{BB962C8B-B14F-4D97-AF65-F5344CB8AC3E}">
        <p14:creationId xmlns:p14="http://schemas.microsoft.com/office/powerpoint/2010/main" val="4235134415"/>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hdr="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4.svg"/><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4.svg"/><Relationship Id="rId4" Type="http://schemas.openxmlformats.org/officeDocument/2006/relationships/image" Target="../media/image16.svg"/></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4.svg"/><Relationship Id="rId4" Type="http://schemas.openxmlformats.org/officeDocument/2006/relationships/image" Target="../media/image16.svg"/></Relationships>
</file>

<file path=ppt/slides/_rels/slide1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4.svg"/><Relationship Id="rId4" Type="http://schemas.openxmlformats.org/officeDocument/2006/relationships/image" Target="../media/image23.sv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DF1D4-82D8-9F72-8D8A-6E7A4A753BD8}"/>
              </a:ext>
            </a:extLst>
          </p:cNvPr>
          <p:cNvSpPr>
            <a:spLocks noGrp="1"/>
          </p:cNvSpPr>
          <p:nvPr>
            <p:ph type="ctrTitle"/>
          </p:nvPr>
        </p:nvSpPr>
        <p:spPr>
          <a:xfrm>
            <a:off x="1600200" y="1127051"/>
            <a:ext cx="8991600" cy="2905613"/>
          </a:xfrm>
        </p:spPr>
        <p:txBody>
          <a:bodyPr>
            <a:normAutofit fontScale="90000"/>
          </a:bodyPr>
          <a:lstStyle/>
          <a:p>
            <a:r>
              <a:rPr lang="en-US" dirty="0"/>
              <a:t>A Proportional Share Resource Allocation</a:t>
            </a:r>
            <a:br>
              <a:rPr lang="en-US" dirty="0"/>
            </a:br>
            <a:r>
              <a:rPr lang="en-US" dirty="0"/>
              <a:t>Algorithm For Real-Time, Time-Shared Systems:</a:t>
            </a:r>
            <a:br>
              <a:rPr lang="en-US" dirty="0"/>
            </a:br>
            <a:r>
              <a:rPr lang="en-US" dirty="0"/>
              <a:t>A Closer Look</a:t>
            </a:r>
          </a:p>
        </p:txBody>
      </p:sp>
      <p:sp>
        <p:nvSpPr>
          <p:cNvPr id="3" name="Subtitle 2">
            <a:extLst>
              <a:ext uri="{FF2B5EF4-FFF2-40B4-BE49-F238E27FC236}">
                <a16:creationId xmlns:a16="http://schemas.microsoft.com/office/drawing/2014/main" id="{C746EF6B-12B3-CADF-7F65-BD8419DCDF51}"/>
              </a:ext>
            </a:extLst>
          </p:cNvPr>
          <p:cNvSpPr>
            <a:spLocks noGrp="1"/>
          </p:cNvSpPr>
          <p:nvPr>
            <p:ph type="subTitle" idx="1"/>
          </p:nvPr>
        </p:nvSpPr>
        <p:spPr/>
        <p:txBody>
          <a:bodyPr/>
          <a:lstStyle/>
          <a:p>
            <a:r>
              <a:rPr lang="en-US" dirty="0"/>
              <a:t>Honors Thesis Defense</a:t>
            </a:r>
          </a:p>
        </p:txBody>
      </p:sp>
      <p:sp>
        <p:nvSpPr>
          <p:cNvPr id="4" name="Date Placeholder 3">
            <a:extLst>
              <a:ext uri="{FF2B5EF4-FFF2-40B4-BE49-F238E27FC236}">
                <a16:creationId xmlns:a16="http://schemas.microsoft.com/office/drawing/2014/main" id="{A17F98EA-FE62-A825-A341-FE2A43BDBA8E}"/>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B1BB174F-66A4-0BA1-A2B9-5C01D2915A25}"/>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0AA34E7A-6073-3DAD-DF8B-96D5E96A9D01}"/>
              </a:ext>
            </a:extLst>
          </p:cNvPr>
          <p:cNvSpPr>
            <a:spLocks noGrp="1"/>
          </p:cNvSpPr>
          <p:nvPr>
            <p:ph type="sldNum" sz="quarter" idx="12"/>
          </p:nvPr>
        </p:nvSpPr>
        <p:spPr/>
        <p:txBody>
          <a:bodyPr/>
          <a:lstStyle/>
          <a:p>
            <a:fld id="{81D2C36F-4504-47C0-B82F-A167342A2754}" type="slidenum">
              <a:rPr lang="en-US" smtClean="0"/>
              <a:t>1</a:t>
            </a:fld>
            <a:endParaRPr lang="en-US"/>
          </a:p>
        </p:txBody>
      </p:sp>
    </p:spTree>
    <p:extLst>
      <p:ext uri="{BB962C8B-B14F-4D97-AF65-F5344CB8AC3E}">
        <p14:creationId xmlns:p14="http://schemas.microsoft.com/office/powerpoint/2010/main" val="4045883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0157D-0DD9-1227-9141-C6360F572A37}"/>
              </a:ext>
            </a:extLst>
          </p:cNvPr>
          <p:cNvSpPr>
            <a:spLocks noGrp="1"/>
          </p:cNvSpPr>
          <p:nvPr>
            <p:ph type="title"/>
          </p:nvPr>
        </p:nvSpPr>
        <p:spPr/>
        <p:txBody>
          <a:bodyPr/>
          <a:lstStyle/>
          <a:p>
            <a:r>
              <a:rPr lang="en-US" dirty="0"/>
              <a:t>Outline</a:t>
            </a:r>
          </a:p>
        </p:txBody>
      </p:sp>
      <p:graphicFrame>
        <p:nvGraphicFramePr>
          <p:cNvPr id="9" name="Content Placeholder 2">
            <a:extLst>
              <a:ext uri="{FF2B5EF4-FFF2-40B4-BE49-F238E27FC236}">
                <a16:creationId xmlns:a16="http://schemas.microsoft.com/office/drawing/2014/main" id="{132A6B8C-890A-7CE6-677C-EA134FC671DE}"/>
              </a:ext>
            </a:extLst>
          </p:cNvPr>
          <p:cNvGraphicFramePr>
            <a:graphicFrameLocks noGrp="1"/>
          </p:cNvGraphicFramePr>
          <p:nvPr>
            <p:ph idx="1"/>
          </p:nvPr>
        </p:nvGraphicFramePr>
        <p:xfrm>
          <a:off x="6736080" y="804672"/>
          <a:ext cx="4815840" cy="52486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D57FDD41-C77B-501F-594E-C35B91A20D8C}"/>
              </a:ext>
            </a:extLst>
          </p:cNvPr>
          <p:cNvSpPr>
            <a:spLocks noGrp="1"/>
          </p:cNvSpPr>
          <p:nvPr>
            <p:ph type="body" sz="half" idx="2"/>
          </p:nvPr>
        </p:nvSpPr>
        <p:spPr/>
        <p:txBody>
          <a:bodyPr/>
          <a:lstStyle/>
          <a:p>
            <a:endParaRPr lang="en-US"/>
          </a:p>
        </p:txBody>
      </p:sp>
      <p:sp>
        <p:nvSpPr>
          <p:cNvPr id="5" name="Date Placeholder 4">
            <a:extLst>
              <a:ext uri="{FF2B5EF4-FFF2-40B4-BE49-F238E27FC236}">
                <a16:creationId xmlns:a16="http://schemas.microsoft.com/office/drawing/2014/main" id="{494A3B72-DE79-9F0B-D364-EB359D6D1FE1}"/>
              </a:ext>
            </a:extLst>
          </p:cNvPr>
          <p:cNvSpPr>
            <a:spLocks noGrp="1"/>
          </p:cNvSpPr>
          <p:nvPr>
            <p:ph type="dt" sz="half" idx="10"/>
          </p:nvPr>
        </p:nvSpPr>
        <p:spPr/>
        <p:txBody>
          <a:bodyPr/>
          <a:lstStyle/>
          <a:p>
            <a:fld id="{E082ABFB-60E7-4BA1-866A-7059F058065B}" type="datetime1">
              <a:rPr lang="en-US" smtClean="0"/>
              <a:t>4/5/26</a:t>
            </a:fld>
            <a:endParaRPr lang="en-US"/>
          </a:p>
        </p:txBody>
      </p:sp>
      <p:sp>
        <p:nvSpPr>
          <p:cNvPr id="6" name="Footer Placeholder 5">
            <a:extLst>
              <a:ext uri="{FF2B5EF4-FFF2-40B4-BE49-F238E27FC236}">
                <a16:creationId xmlns:a16="http://schemas.microsoft.com/office/drawing/2014/main" id="{4CF5AA7F-70B4-4E0A-F53A-6F3CC6D5D8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FC4C1D-062A-8F0C-C7EB-8EBD693DC0E1}"/>
              </a:ext>
            </a:extLst>
          </p:cNvPr>
          <p:cNvSpPr>
            <a:spLocks noGrp="1"/>
          </p:cNvSpPr>
          <p:nvPr>
            <p:ph type="sldNum" sz="quarter" idx="12"/>
          </p:nvPr>
        </p:nvSpPr>
        <p:spPr/>
        <p:txBody>
          <a:bodyPr/>
          <a:lstStyle/>
          <a:p>
            <a:fld id="{81D2C36F-4504-47C0-B82F-A167342A2754}" type="slidenum">
              <a:rPr lang="en-US" smtClean="0"/>
              <a:t>2</a:t>
            </a:fld>
            <a:endParaRPr lang="en-US"/>
          </a:p>
        </p:txBody>
      </p:sp>
    </p:spTree>
    <p:extLst>
      <p:ext uri="{BB962C8B-B14F-4D97-AF65-F5344CB8AC3E}">
        <p14:creationId xmlns:p14="http://schemas.microsoft.com/office/powerpoint/2010/main" val="140742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EC0C-B841-9196-A8FB-CC213D1BDD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5338D-B806-49A2-FD58-71B0FE9C88AA}"/>
              </a:ext>
            </a:extLst>
          </p:cNvPr>
          <p:cNvSpPr>
            <a:spLocks noGrp="1"/>
          </p:cNvSpPr>
          <p:nvPr>
            <p:ph type="title"/>
          </p:nvPr>
        </p:nvSpPr>
        <p:spPr/>
        <p:txBody>
          <a:bodyPr/>
          <a:lstStyle/>
          <a:p>
            <a:r>
              <a:rPr lang="en-US" dirty="0"/>
              <a:t>Task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3720D0F-5C8C-210B-BEA3-CE180E224A96}"/>
                  </a:ext>
                </a:extLst>
              </p:cNvPr>
              <p:cNvSpPr>
                <a:spLocks noGrp="1"/>
              </p:cNvSpPr>
              <p:nvPr>
                <p:ph idx="1"/>
              </p:nvPr>
            </p:nvSpPr>
            <p:spPr/>
            <p:txBody>
              <a:bodyPr>
                <a:normAutofit/>
              </a:bodyPr>
              <a:lstStyle/>
              <a:p>
                <a:r>
                  <a:rPr lang="en-US" sz="2000" b="0" dirty="0"/>
                  <a:t>Client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𝜏</m:t>
                        </m:r>
                      </m:e>
                      <m:sub>
                        <m:r>
                          <a:rPr lang="en-US" sz="2000" b="0" i="1" smtClean="0">
                            <a:latin typeface="Cambria Math" panose="02040503050406030204" pitchFamily="18" charset="0"/>
                          </a:rPr>
                          <m:t>𝑖</m:t>
                        </m:r>
                      </m:sub>
                    </m:sSub>
                  </m:oMath>
                </a14:m>
                <a:r>
                  <a:rPr lang="en-US" sz="2000" dirty="0"/>
                  <a:t> issues requests </a:t>
                </a:r>
                <a14:m>
                  <m:oMath xmlns:m="http://schemas.openxmlformats.org/officeDocument/2006/math">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𝑟</m:t>
                        </m:r>
                      </m:e>
                      <m:sub>
                        <m:r>
                          <a:rPr lang="en-US" sz="2000" b="0" i="1" smtClean="0">
                            <a:latin typeface="Cambria Math" panose="02040503050406030204" pitchFamily="18" charset="0"/>
                          </a:rPr>
                          <m:t>𝑖</m:t>
                        </m:r>
                      </m:sub>
                      <m:sup>
                        <m:r>
                          <a:rPr lang="en-US" sz="2000" b="0" i="1" smtClean="0">
                            <a:latin typeface="Cambria Math" panose="02040503050406030204" pitchFamily="18" charset="0"/>
                          </a:rPr>
                          <m:t>𝑘</m:t>
                        </m:r>
                      </m:sup>
                    </m:sSubSup>
                  </m:oMath>
                </a14:m>
                <a:r>
                  <a:rPr lang="en-US" sz="2000" dirty="0"/>
                  <a:t> for time on the CPU</a:t>
                </a:r>
              </a:p>
              <a:p>
                <a:r>
                  <a:rPr lang="en-US" sz="2000" dirty="0"/>
                  <a:t>A request is </a:t>
                </a:r>
                <a:r>
                  <a:rPr lang="en-US" sz="2000" b="1" dirty="0"/>
                  <a:t>pending</a:t>
                </a:r>
                <a:r>
                  <a:rPr lang="en-US" sz="2000" dirty="0"/>
                  <a:t> at time </a:t>
                </a:r>
                <a14:m>
                  <m:oMath xmlns:m="http://schemas.openxmlformats.org/officeDocument/2006/math">
                    <m:r>
                      <a:rPr lang="en-US" sz="2000" b="0" i="1" smtClean="0">
                        <a:latin typeface="Cambria Math" panose="02040503050406030204" pitchFamily="18" charset="0"/>
                      </a:rPr>
                      <m:t>𝑡</m:t>
                    </m:r>
                  </m:oMath>
                </a14:m>
                <a:r>
                  <a:rPr lang="en-US" sz="2000" b="1" dirty="0"/>
                  <a:t> </a:t>
                </a:r>
                <a:r>
                  <a:rPr lang="en-US" sz="2000" dirty="0"/>
                  <a:t>if it has been issued, but not fulfilled</a:t>
                </a:r>
              </a:p>
              <a:p>
                <a:r>
                  <a:rPr lang="en-US" sz="2000" dirty="0"/>
                  <a:t>Client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𝜏</m:t>
                        </m:r>
                      </m:e>
                      <m:sub>
                        <m:r>
                          <a:rPr lang="en-US" sz="2000" i="1">
                            <a:latin typeface="Cambria Math" panose="02040503050406030204" pitchFamily="18" charset="0"/>
                          </a:rPr>
                          <m:t>𝑖</m:t>
                        </m:r>
                      </m:sub>
                    </m:sSub>
                  </m:oMath>
                </a14:m>
                <a:r>
                  <a:rPr lang="en-US" sz="2000" dirty="0"/>
                  <a:t> is </a:t>
                </a:r>
                <a:r>
                  <a:rPr lang="en-US" sz="2000" b="1" dirty="0"/>
                  <a:t>active</a:t>
                </a:r>
                <a:r>
                  <a:rPr lang="en-US" sz="2000" dirty="0"/>
                  <a:t> if it has a pending request and </a:t>
                </a:r>
                <a:r>
                  <a:rPr lang="en-US" sz="2000" b="1" dirty="0"/>
                  <a:t>passive </a:t>
                </a:r>
                <a:r>
                  <a:rPr lang="en-US" sz="2000" dirty="0"/>
                  <a:t>otherwise</a:t>
                </a:r>
              </a:p>
              <a:p>
                <a:r>
                  <a:rPr lang="en-US" sz="2000" dirty="0"/>
                  <a:t>A client has at most one pending request at any time</a:t>
                </a:r>
              </a:p>
              <a:p>
                <a:r>
                  <a:rPr lang="en-US" sz="2000" dirty="0"/>
                  <a:t>Quantum size </a:t>
                </a:r>
                <a14:m>
                  <m:oMath xmlns:m="http://schemas.openxmlformats.org/officeDocument/2006/math">
                    <m:r>
                      <a:rPr lang="en-US" sz="2000" b="0" i="1" smtClean="0">
                        <a:latin typeface="Cambria Math" panose="02040503050406030204" pitchFamily="18" charset="0"/>
                      </a:rPr>
                      <m:t>𝑞</m:t>
                    </m:r>
                  </m:oMath>
                </a14:m>
                <a:endParaRPr lang="en-US" sz="2000" dirty="0"/>
              </a:p>
              <a:p>
                <a:r>
                  <a:rPr lang="en-US" sz="2000" dirty="0"/>
                  <a:t>Continuous time</a:t>
                </a:r>
              </a:p>
            </p:txBody>
          </p:sp>
        </mc:Choice>
        <mc:Fallback>
          <p:sp>
            <p:nvSpPr>
              <p:cNvPr id="3" name="Content Placeholder 2">
                <a:extLst>
                  <a:ext uri="{FF2B5EF4-FFF2-40B4-BE49-F238E27FC236}">
                    <a16:creationId xmlns:a16="http://schemas.microsoft.com/office/drawing/2014/main" id="{13720D0F-5C8C-210B-BEA3-CE180E224A96}"/>
                  </a:ext>
                </a:extLst>
              </p:cNvPr>
              <p:cNvSpPr>
                <a:spLocks noGrp="1" noRot="1" noChangeAspect="1" noMove="1" noResize="1" noEditPoints="1" noAdjustHandles="1" noChangeArrowheads="1" noChangeShapeType="1" noTextEdit="1"/>
              </p:cNvSpPr>
              <p:nvPr>
                <p:ph idx="1"/>
              </p:nvPr>
            </p:nvSpPr>
            <p:spPr>
              <a:blipFill>
                <a:blip r:embed="rId3"/>
                <a:stretch>
                  <a:fillRect l="-656" t="-407"/>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A1325100-6F23-78EA-EB80-FF308AEB41F8}"/>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50D7FEDD-D321-FB16-A84B-4B84A3C648EC}"/>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D6F90B0E-0F0B-9607-BA6D-E6167A3CE0EC}"/>
              </a:ext>
            </a:extLst>
          </p:cNvPr>
          <p:cNvSpPr>
            <a:spLocks noGrp="1"/>
          </p:cNvSpPr>
          <p:nvPr>
            <p:ph type="sldNum" sz="quarter" idx="12"/>
          </p:nvPr>
        </p:nvSpPr>
        <p:spPr/>
        <p:txBody>
          <a:bodyPr/>
          <a:lstStyle/>
          <a:p>
            <a:fld id="{81D2C36F-4504-47C0-B82F-A167342A2754}" type="slidenum">
              <a:rPr lang="en-US" smtClean="0"/>
              <a:t>3</a:t>
            </a:fld>
            <a:endParaRPr lang="en-US"/>
          </a:p>
        </p:txBody>
      </p:sp>
    </p:spTree>
    <p:extLst>
      <p:ext uri="{BB962C8B-B14F-4D97-AF65-F5344CB8AC3E}">
        <p14:creationId xmlns:p14="http://schemas.microsoft.com/office/powerpoint/2010/main" val="1528914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700AB533-D600-E971-9E37-5C224F0BA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C287CE-2660-C6BE-B49F-D75B8DBFEF6B}"/>
              </a:ext>
            </a:extLst>
          </p:cNvPr>
          <p:cNvSpPr>
            <a:spLocks noGrp="1"/>
          </p:cNvSpPr>
          <p:nvPr>
            <p:ph type="title"/>
          </p:nvPr>
        </p:nvSpPr>
        <p:spPr>
          <a:xfrm>
            <a:off x="8312677" y="964692"/>
            <a:ext cx="3066937" cy="1188720"/>
          </a:xfrm>
        </p:spPr>
        <p:txBody>
          <a:bodyPr>
            <a:normAutofit/>
          </a:bodyPr>
          <a:lstStyle/>
          <a:p>
            <a:r>
              <a:rPr lang="en-US" dirty="0"/>
              <a:t>Fluid/Ideal System</a:t>
            </a:r>
          </a:p>
        </p:txBody>
      </p:sp>
      <p:sp>
        <p:nvSpPr>
          <p:cNvPr id="12" name="Rectangle 11">
            <a:extLst>
              <a:ext uri="{FF2B5EF4-FFF2-40B4-BE49-F238E27FC236}">
                <a16:creationId xmlns:a16="http://schemas.microsoft.com/office/drawing/2014/main" id="{A99FE660-E3DF-47E7-962D-66C6F6CE0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795"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8C29FEE-8E8F-43D5-AD23-EB4060B4D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8415"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12FA12D2-7BA4-EB18-3310-06C372A812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979" y="2052491"/>
            <a:ext cx="6227064" cy="3272520"/>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2C835A2-277C-039F-1EDC-DAB728BC3BE2}"/>
                  </a:ext>
                </a:extLst>
              </p:cNvPr>
              <p:cNvSpPr>
                <a:spLocks noGrp="1"/>
              </p:cNvSpPr>
              <p:nvPr>
                <p:ph idx="1"/>
              </p:nvPr>
            </p:nvSpPr>
            <p:spPr>
              <a:xfrm>
                <a:off x="8311249" y="2638044"/>
                <a:ext cx="3063765" cy="3263206"/>
              </a:xfrm>
              <a:ln>
                <a:noFill/>
              </a:ln>
            </p:spPr>
            <p:txBody>
              <a:bodyPr>
                <a:normAutofit/>
              </a:bodyPr>
              <a:lstStyle/>
              <a:p>
                <a:r>
                  <a:rPr lang="en-US" dirty="0"/>
                  <a:t>Each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𝑖</m:t>
                        </m:r>
                      </m:sub>
                    </m:sSub>
                  </m:oMath>
                </a14:m>
                <a:r>
                  <a:rPr lang="en-US" dirty="0"/>
                  <a:t> has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ℚ</m:t>
                    </m:r>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&gt;0</m:t>
                    </m:r>
                  </m:oMath>
                </a14:m>
                <a:endParaRPr lang="en-US" dirty="0">
                  <a:ea typeface="Cambria Math" panose="02040503050406030204" pitchFamily="18" charset="0"/>
                </a:endParaRPr>
              </a:p>
              <a:p>
                <a:r>
                  <a:rPr lang="en-US" dirty="0"/>
                  <a:t>Instantaneous share at time </a:t>
                </a:r>
                <a14:m>
                  <m:oMath xmlns:m="http://schemas.openxmlformats.org/officeDocument/2006/math">
                    <m:r>
                      <a:rPr lang="en-US" i="1">
                        <a:latin typeface="Cambria Math" panose="02040503050406030204" pitchFamily="18" charset="0"/>
                      </a:rPr>
                      <m:t>𝑡</m:t>
                    </m:r>
                  </m:oMath>
                </a14:m>
                <a:r>
                  <a:rPr lang="en-US" dirty="0"/>
                  <a:t>, Eq. (1):		</a:t>
                </a:r>
              </a:p>
              <a:p>
                <a:endParaRPr lang="en-US" dirty="0"/>
              </a:p>
              <a:p>
                <a:pPr marL="0" indent="0">
                  <a:buNone/>
                </a:pPr>
                <a:r>
                  <a:rPr lang="en-US" dirty="0"/>
                  <a:t>	</a:t>
                </a:r>
              </a:p>
              <a:p>
                <a:r>
                  <a:rPr lang="en-US" dirty="0"/>
                  <a:t>Ideal allocation in </a:t>
                </a:r>
                <a14:m>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t</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t</m:t>
                        </m:r>
                      </m:e>
                      <m:sub>
                        <m:r>
                          <a:rPr lang="en-US" i="1">
                            <a:latin typeface="Cambria Math" panose="02040503050406030204" pitchFamily="18" charset="0"/>
                          </a:rPr>
                          <m:t>2</m:t>
                        </m:r>
                      </m:sub>
                    </m:sSub>
                    <m:r>
                      <a:rPr lang="en-US" i="1">
                        <a:latin typeface="Cambria Math" panose="02040503050406030204" pitchFamily="18" charset="0"/>
                      </a:rPr>
                      <m:t>)</m:t>
                    </m:r>
                  </m:oMath>
                </a14:m>
                <a:r>
                  <a:rPr lang="en-US" dirty="0"/>
                  <a:t>, Eq. (2):</a:t>
                </a:r>
              </a:p>
              <a:p>
                <a:endParaRPr lang="en-US" dirty="0"/>
              </a:p>
            </p:txBody>
          </p:sp>
        </mc:Choice>
        <mc:Fallback>
          <p:sp>
            <p:nvSpPr>
              <p:cNvPr id="3" name="Content Placeholder 2">
                <a:extLst>
                  <a:ext uri="{FF2B5EF4-FFF2-40B4-BE49-F238E27FC236}">
                    <a16:creationId xmlns:a16="http://schemas.microsoft.com/office/drawing/2014/main" id="{A2C835A2-277C-039F-1EDC-DAB728BC3BE2}"/>
                  </a:ext>
                </a:extLst>
              </p:cNvPr>
              <p:cNvSpPr>
                <a:spLocks noGrp="1" noRot="1" noChangeAspect="1" noMove="1" noResize="1" noEditPoints="1" noAdjustHandles="1" noChangeArrowheads="1" noChangeShapeType="1" noTextEdit="1"/>
              </p:cNvSpPr>
              <p:nvPr>
                <p:ph idx="1"/>
              </p:nvPr>
            </p:nvSpPr>
            <p:spPr>
              <a:xfrm>
                <a:off x="8311249" y="2638044"/>
                <a:ext cx="3063765" cy="3263206"/>
              </a:xfrm>
              <a:blipFill>
                <a:blip r:embed="rId4"/>
                <a:stretch>
                  <a:fillRect l="-1240" t="-775"/>
                </a:stretch>
              </a:blipFill>
              <a:ln>
                <a:noFill/>
              </a:ln>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539B25C1-CB71-E8B8-D19C-951312D04882}"/>
              </a:ext>
            </a:extLst>
          </p:cNvPr>
          <p:cNvSpPr>
            <a:spLocks noGrp="1"/>
          </p:cNvSpPr>
          <p:nvPr>
            <p:ph type="ftr" sz="quarter" idx="11"/>
          </p:nvPr>
        </p:nvSpPr>
        <p:spPr>
          <a:xfrm>
            <a:off x="798315" y="6236208"/>
            <a:ext cx="5901189" cy="320040"/>
          </a:xfrm>
        </p:spPr>
        <p:txBody>
          <a:bodyPr>
            <a:normAutofit/>
          </a:bodyPr>
          <a:lstStyle/>
          <a:p>
            <a:pPr>
              <a:spcAft>
                <a:spcPts val="600"/>
              </a:spcAft>
            </a:pPr>
            <a:r>
              <a:rPr lang="en-US" dirty="0"/>
              <a:t>Sarah Barnes Haddix</a:t>
            </a:r>
            <a:endParaRPr lang="en-US"/>
          </a:p>
        </p:txBody>
      </p:sp>
      <p:sp>
        <p:nvSpPr>
          <p:cNvPr id="4" name="Date Placeholder 3">
            <a:extLst>
              <a:ext uri="{FF2B5EF4-FFF2-40B4-BE49-F238E27FC236}">
                <a16:creationId xmlns:a16="http://schemas.microsoft.com/office/drawing/2014/main" id="{5F0C69B9-692F-E538-1034-3E91EC8B5524}"/>
              </a:ext>
            </a:extLst>
          </p:cNvPr>
          <p:cNvSpPr>
            <a:spLocks noGrp="1"/>
          </p:cNvSpPr>
          <p:nvPr>
            <p:ph type="dt" sz="half" idx="10"/>
          </p:nvPr>
        </p:nvSpPr>
        <p:spPr>
          <a:xfrm>
            <a:off x="7821429" y="6238816"/>
            <a:ext cx="2753746" cy="323968"/>
          </a:xfrm>
        </p:spPr>
        <p:txBody>
          <a:bodyPr>
            <a:normAutofit/>
          </a:bodyPr>
          <a:lstStyle/>
          <a:p>
            <a:pPr>
              <a:spcAft>
                <a:spcPts val="600"/>
              </a:spcAft>
            </a:pPr>
            <a:r>
              <a:rPr lang="en-US" dirty="0"/>
              <a:t>4/6/2026</a:t>
            </a:r>
            <a:endParaRPr lang="en-US"/>
          </a:p>
        </p:txBody>
      </p:sp>
      <p:sp>
        <p:nvSpPr>
          <p:cNvPr id="6" name="Slide Number Placeholder 5">
            <a:extLst>
              <a:ext uri="{FF2B5EF4-FFF2-40B4-BE49-F238E27FC236}">
                <a16:creationId xmlns:a16="http://schemas.microsoft.com/office/drawing/2014/main" id="{FE446A71-CC5B-876A-195A-5C8B0DBC1B56}"/>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81D2C36F-4504-47C0-B82F-A167342A2754}" type="slidenum">
              <a:rPr lang="en-US" smtClean="0"/>
              <a:pPr>
                <a:lnSpc>
                  <a:spcPct val="90000"/>
                </a:lnSpc>
                <a:spcAft>
                  <a:spcPts val="600"/>
                </a:spcAft>
              </a:pPr>
              <a:t>4</a:t>
            </a:fld>
            <a:endParaRPr lang="en-US"/>
          </a:p>
        </p:txBody>
      </p:sp>
      <p:pic>
        <p:nvPicPr>
          <p:cNvPr id="11" name="Graphic 10">
            <a:extLst>
              <a:ext uri="{FF2B5EF4-FFF2-40B4-BE49-F238E27FC236}">
                <a16:creationId xmlns:a16="http://schemas.microsoft.com/office/drawing/2014/main" id="{E9B4B98D-9DC9-5526-EF0A-E416C4923CF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90343" y="3591805"/>
            <a:ext cx="2599584" cy="940275"/>
          </a:xfrm>
          <a:prstGeom prst="rect">
            <a:avLst/>
          </a:prstGeom>
        </p:spPr>
      </p:pic>
      <p:pic>
        <p:nvPicPr>
          <p:cNvPr id="17" name="Graphic 16">
            <a:extLst>
              <a:ext uri="{FF2B5EF4-FFF2-40B4-BE49-F238E27FC236}">
                <a16:creationId xmlns:a16="http://schemas.microsoft.com/office/drawing/2014/main" id="{FEB3400A-1E07-0FE1-0BAF-EF577CF73E8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90343" y="5069231"/>
            <a:ext cx="2491744" cy="838132"/>
          </a:xfrm>
          <a:prstGeom prst="rect">
            <a:avLst/>
          </a:prstGeom>
        </p:spPr>
      </p:pic>
      <p:pic>
        <p:nvPicPr>
          <p:cNvPr id="19" name="Graphic 18">
            <a:extLst>
              <a:ext uri="{FF2B5EF4-FFF2-40B4-BE49-F238E27FC236}">
                <a16:creationId xmlns:a16="http://schemas.microsoft.com/office/drawing/2014/main" id="{F0858573-C0C3-CE0D-4AB5-70A4FC91CD2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70000" y="1338191"/>
            <a:ext cx="5975022" cy="511560"/>
          </a:xfrm>
          <a:prstGeom prst="rect">
            <a:avLst/>
          </a:prstGeom>
        </p:spPr>
      </p:pic>
    </p:spTree>
    <p:extLst>
      <p:ext uri="{BB962C8B-B14F-4D97-AF65-F5344CB8AC3E}">
        <p14:creationId xmlns:p14="http://schemas.microsoft.com/office/powerpoint/2010/main" val="2059152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ABD9C-297E-A24F-953A-C9430AB3B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3E8727-2A91-1E07-BCBE-0DFC5BBFE8F5}"/>
              </a:ext>
            </a:extLst>
          </p:cNvPr>
          <p:cNvSpPr>
            <a:spLocks noGrp="1"/>
          </p:cNvSpPr>
          <p:nvPr>
            <p:ph type="title"/>
          </p:nvPr>
        </p:nvSpPr>
        <p:spPr/>
        <p:txBody>
          <a:bodyPr/>
          <a:lstStyle/>
          <a:p>
            <a:r>
              <a:rPr lang="en-US" dirty="0"/>
              <a:t>Lag</a:t>
            </a:r>
          </a:p>
        </p:txBody>
      </p:sp>
      <p:pic>
        <p:nvPicPr>
          <p:cNvPr id="8" name="Content Placeholder 7">
            <a:extLst>
              <a:ext uri="{FF2B5EF4-FFF2-40B4-BE49-F238E27FC236}">
                <a16:creationId xmlns:a16="http://schemas.microsoft.com/office/drawing/2014/main" id="{1D981824-75A3-4AF2-CF54-504C34FCA6B7}"/>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3840074" y="2665083"/>
            <a:ext cx="4511849" cy="874389"/>
          </a:xfrm>
          <a:prstGeom prst="rect">
            <a:avLst/>
          </a:prstGeom>
        </p:spPr>
      </p:pic>
      <p:sp>
        <p:nvSpPr>
          <p:cNvPr id="4" name="Date Placeholder 3">
            <a:extLst>
              <a:ext uri="{FF2B5EF4-FFF2-40B4-BE49-F238E27FC236}">
                <a16:creationId xmlns:a16="http://schemas.microsoft.com/office/drawing/2014/main" id="{6C6E28CC-5909-BF5E-4E16-A10DF5BEE6DF}"/>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EC0E4A6E-B406-57B8-0BC0-2FC1C5CFFFFC}"/>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183AB982-6616-E586-6CCE-C7B573AC7741}"/>
              </a:ext>
            </a:extLst>
          </p:cNvPr>
          <p:cNvSpPr>
            <a:spLocks noGrp="1"/>
          </p:cNvSpPr>
          <p:nvPr>
            <p:ph type="sldNum" sz="quarter" idx="12"/>
          </p:nvPr>
        </p:nvSpPr>
        <p:spPr/>
        <p:txBody>
          <a:bodyPr/>
          <a:lstStyle/>
          <a:p>
            <a:fld id="{81D2C36F-4504-47C0-B82F-A167342A2754}" type="slidenum">
              <a:rPr lang="en-US" smtClean="0"/>
              <a:t>5</a:t>
            </a:fld>
            <a:endParaRPr lang="en-US"/>
          </a:p>
        </p:txBody>
      </p:sp>
      <p:pic>
        <p:nvPicPr>
          <p:cNvPr id="10" name="Graphic 9">
            <a:extLst>
              <a:ext uri="{FF2B5EF4-FFF2-40B4-BE49-F238E27FC236}">
                <a16:creationId xmlns:a16="http://schemas.microsoft.com/office/drawing/2014/main" id="{CD8318A4-6683-854E-0E32-524B9E1659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6099" y="3839264"/>
            <a:ext cx="11399801" cy="1799969"/>
          </a:xfrm>
          <a:prstGeom prst="rect">
            <a:avLst/>
          </a:prstGeom>
        </p:spPr>
      </p:pic>
    </p:spTree>
    <p:extLst>
      <p:ext uri="{BB962C8B-B14F-4D97-AF65-F5344CB8AC3E}">
        <p14:creationId xmlns:p14="http://schemas.microsoft.com/office/powerpoint/2010/main" val="3029792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CA65-DFBE-7C91-7F03-15DB126E36BE}"/>
              </a:ext>
            </a:extLst>
          </p:cNvPr>
          <p:cNvSpPr>
            <a:spLocks noGrp="1"/>
          </p:cNvSpPr>
          <p:nvPr>
            <p:ph type="title"/>
          </p:nvPr>
        </p:nvSpPr>
        <p:spPr/>
        <p:txBody>
          <a:bodyPr/>
          <a:lstStyle/>
          <a:p>
            <a:r>
              <a:rPr lang="en-US" dirty="0"/>
              <a:t>Proportional-Share Algorithms</a:t>
            </a:r>
          </a:p>
        </p:txBody>
      </p:sp>
      <p:sp>
        <p:nvSpPr>
          <p:cNvPr id="3" name="Content Placeholder 2">
            <a:extLst>
              <a:ext uri="{FF2B5EF4-FFF2-40B4-BE49-F238E27FC236}">
                <a16:creationId xmlns:a16="http://schemas.microsoft.com/office/drawing/2014/main" id="{261E49B6-19FE-71CF-7BD0-C56EB42AE9B5}"/>
              </a:ext>
            </a:extLst>
          </p:cNvPr>
          <p:cNvSpPr>
            <a:spLocks noGrp="1"/>
          </p:cNvSpPr>
          <p:nvPr>
            <p:ph idx="1"/>
          </p:nvPr>
        </p:nvSpPr>
        <p:spPr/>
        <p:txBody>
          <a:bodyPr>
            <a:normAutofit/>
          </a:bodyPr>
          <a:lstStyle/>
          <a:p>
            <a:r>
              <a:rPr lang="en-US" sz="2000" dirty="0"/>
              <a:t>Aim to allocate each task proportionally fair time on the CPU</a:t>
            </a:r>
          </a:p>
          <a:p>
            <a:r>
              <a:rPr lang="en-US" sz="2000" dirty="0"/>
              <a:t>EEVDF optimal in the class of proportional-share algorithms</a:t>
            </a:r>
          </a:p>
        </p:txBody>
      </p:sp>
      <p:sp>
        <p:nvSpPr>
          <p:cNvPr id="4" name="Date Placeholder 3">
            <a:extLst>
              <a:ext uri="{FF2B5EF4-FFF2-40B4-BE49-F238E27FC236}">
                <a16:creationId xmlns:a16="http://schemas.microsoft.com/office/drawing/2014/main" id="{85847BA3-CB33-5781-D301-83F1BBDA9706}"/>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C97DD7C6-2A86-6A4A-2087-896800A8A067}"/>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A5DC356C-46A7-B320-A971-645A74929E10}"/>
              </a:ext>
            </a:extLst>
          </p:cNvPr>
          <p:cNvSpPr>
            <a:spLocks noGrp="1"/>
          </p:cNvSpPr>
          <p:nvPr>
            <p:ph type="sldNum" sz="quarter" idx="12"/>
          </p:nvPr>
        </p:nvSpPr>
        <p:spPr/>
        <p:txBody>
          <a:bodyPr/>
          <a:lstStyle/>
          <a:p>
            <a:fld id="{81D2C36F-4504-47C0-B82F-A167342A2754}" type="slidenum">
              <a:rPr lang="en-US" smtClean="0"/>
              <a:t>6</a:t>
            </a:fld>
            <a:endParaRPr lang="en-US"/>
          </a:p>
        </p:txBody>
      </p:sp>
    </p:spTree>
    <p:extLst>
      <p:ext uri="{BB962C8B-B14F-4D97-AF65-F5344CB8AC3E}">
        <p14:creationId xmlns:p14="http://schemas.microsoft.com/office/powerpoint/2010/main" val="43668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44FCD-8E40-3455-356A-FE132485AF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DC6B9D-5A86-3849-C846-E548ED7A64B5}"/>
              </a:ext>
            </a:extLst>
          </p:cNvPr>
          <p:cNvSpPr>
            <a:spLocks noGrp="1"/>
          </p:cNvSpPr>
          <p:nvPr>
            <p:ph type="title"/>
          </p:nvPr>
        </p:nvSpPr>
        <p:spPr/>
        <p:txBody>
          <a:bodyPr/>
          <a:lstStyle/>
          <a:p>
            <a:r>
              <a:rPr lang="en-US" dirty="0"/>
              <a:t>The Virtual Time Domain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91DAD38-9722-B644-3FAC-D47484CB655B}"/>
                  </a:ext>
                </a:extLst>
              </p:cNvPr>
              <p:cNvSpPr>
                <a:spLocks noGrp="1"/>
              </p:cNvSpPr>
              <p:nvPr>
                <p:ph idx="1"/>
              </p:nvPr>
            </p:nvSpPr>
            <p:spPr/>
            <p:txBody>
              <a:bodyPr/>
              <a:lstStyle/>
              <a:p>
                <a:r>
                  <a:rPr lang="en-US" dirty="0"/>
                  <a:t>Ticks along in inverse proportion to the sum of the weights in the system</a:t>
                </a:r>
              </a:p>
              <a:p>
                <a:r>
                  <a:rPr lang="en-US" dirty="0"/>
                  <a:t>Each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𝑖</m:t>
                        </m:r>
                      </m:sub>
                    </m:sSub>
                  </m:oMath>
                </a14:m>
                <a:r>
                  <a:rPr lang="en-US" dirty="0"/>
                  <a:t> will be scheduled for </a:t>
                </a:r>
                <a14:m>
                  <m:oMath xmlns:m="http://schemas.openxmlformats.org/officeDocument/2006/math">
                    <m:sSub>
                      <m:sSubPr>
                        <m:ctrlPr>
                          <a:rPr lang="en-US" i="1">
                            <a:latin typeface="Cambria Math" panose="02040503050406030204" pitchFamily="18" charset="0"/>
                          </a:rPr>
                        </m:ctrlPr>
                      </m:sSubPr>
                      <m:e>
                        <m:r>
                          <m:rPr>
                            <m:sty m:val="p"/>
                          </m:rPr>
                          <a:rPr lang="en-US" b="0" i="1" smtClean="0">
                            <a:latin typeface="Cambria Math" panose="02040503050406030204" pitchFamily="18" charset="0"/>
                          </a:rPr>
                          <m:t>w</m:t>
                        </m:r>
                      </m:e>
                      <m:sub>
                        <m:r>
                          <a:rPr lang="en-US" i="1">
                            <a:latin typeface="Cambria Math" panose="02040503050406030204" pitchFamily="18" charset="0"/>
                          </a:rPr>
                          <m:t>𝑖</m:t>
                        </m:r>
                      </m:sub>
                    </m:sSub>
                  </m:oMath>
                </a14:m>
                <a:r>
                  <a:rPr lang="en-US" dirty="0"/>
                  <a:t> time units in each virtual time unit</a:t>
                </a:r>
              </a:p>
              <a:p>
                <a:r>
                  <a:rPr lang="en-US" dirty="0"/>
                  <a:t>Scheduling decisions are made in the virtual time domain</a:t>
                </a:r>
              </a:p>
            </p:txBody>
          </p:sp>
        </mc:Choice>
        <mc:Fallback>
          <p:sp>
            <p:nvSpPr>
              <p:cNvPr id="3" name="Content Placeholder 2">
                <a:extLst>
                  <a:ext uri="{FF2B5EF4-FFF2-40B4-BE49-F238E27FC236}">
                    <a16:creationId xmlns:a16="http://schemas.microsoft.com/office/drawing/2014/main" id="{591DAD38-9722-B644-3FAC-D47484CB655B}"/>
                  </a:ext>
                </a:extLst>
              </p:cNvPr>
              <p:cNvSpPr>
                <a:spLocks noGrp="1" noRot="1" noChangeAspect="1" noMove="1" noResize="1" noEditPoints="1" noAdjustHandles="1" noChangeArrowheads="1" noChangeShapeType="1" noTextEdit="1"/>
              </p:cNvSpPr>
              <p:nvPr>
                <p:ph idx="1"/>
              </p:nvPr>
            </p:nvSpPr>
            <p:spPr>
              <a:blipFill>
                <a:blip r:embed="rId2"/>
                <a:stretch>
                  <a:fillRect l="-492" t="-81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F7F12E6F-D8DB-8C54-BFA5-292ABFC8AC6F}"/>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C9C50812-6F44-324E-EED2-1EC89774048A}"/>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2E5B65E3-DC8A-5392-E0DC-012AD9DF6024}"/>
              </a:ext>
            </a:extLst>
          </p:cNvPr>
          <p:cNvSpPr>
            <a:spLocks noGrp="1"/>
          </p:cNvSpPr>
          <p:nvPr>
            <p:ph type="sldNum" sz="quarter" idx="12"/>
          </p:nvPr>
        </p:nvSpPr>
        <p:spPr/>
        <p:txBody>
          <a:bodyPr/>
          <a:lstStyle/>
          <a:p>
            <a:fld id="{81D2C36F-4504-47C0-B82F-A167342A2754}" type="slidenum">
              <a:rPr lang="en-US" smtClean="0"/>
              <a:t>7</a:t>
            </a:fld>
            <a:endParaRPr lang="en-US"/>
          </a:p>
        </p:txBody>
      </p:sp>
      <p:pic>
        <p:nvPicPr>
          <p:cNvPr id="10" name="Graphic 9">
            <a:extLst>
              <a:ext uri="{FF2B5EF4-FFF2-40B4-BE49-F238E27FC236}">
                <a16:creationId xmlns:a16="http://schemas.microsoft.com/office/drawing/2014/main" id="{A2C9F7AE-F6B8-6581-280A-CC37A78356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31769" y="3513981"/>
            <a:ext cx="5128462" cy="2059792"/>
          </a:xfrm>
          <a:prstGeom prst="rect">
            <a:avLst/>
          </a:prstGeom>
        </p:spPr>
      </p:pic>
    </p:spTree>
    <p:extLst>
      <p:ext uri="{BB962C8B-B14F-4D97-AF65-F5344CB8AC3E}">
        <p14:creationId xmlns:p14="http://schemas.microsoft.com/office/powerpoint/2010/main" val="4220933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D489A-0E9E-4C27-553C-17587373A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CD08A-06DF-681F-4151-21C9D9F6672E}"/>
              </a:ext>
            </a:extLst>
          </p:cNvPr>
          <p:cNvSpPr>
            <a:spLocks noGrp="1"/>
          </p:cNvSpPr>
          <p:nvPr>
            <p:ph type="title"/>
          </p:nvPr>
        </p:nvSpPr>
        <p:spPr/>
        <p:txBody>
          <a:bodyPr/>
          <a:lstStyle/>
          <a:p>
            <a:r>
              <a:rPr lang="en-US" dirty="0"/>
              <a:t>EEVDF</a:t>
            </a:r>
          </a:p>
        </p:txBody>
      </p:sp>
      <p:sp>
        <p:nvSpPr>
          <p:cNvPr id="4" name="Date Placeholder 3">
            <a:extLst>
              <a:ext uri="{FF2B5EF4-FFF2-40B4-BE49-F238E27FC236}">
                <a16:creationId xmlns:a16="http://schemas.microsoft.com/office/drawing/2014/main" id="{2C55C389-83BD-A011-EE84-D41E9F7D0456}"/>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0155E0F4-5537-BBFB-1D56-938489775021}"/>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2E8B9603-8EF0-3D73-DE7F-2EC79B132EF3}"/>
              </a:ext>
            </a:extLst>
          </p:cNvPr>
          <p:cNvSpPr>
            <a:spLocks noGrp="1"/>
          </p:cNvSpPr>
          <p:nvPr>
            <p:ph type="sldNum" sz="quarter" idx="12"/>
          </p:nvPr>
        </p:nvSpPr>
        <p:spPr/>
        <p:txBody>
          <a:bodyPr/>
          <a:lstStyle/>
          <a:p>
            <a:fld id="{81D2C36F-4504-47C0-B82F-A167342A2754}" type="slidenum">
              <a:rPr lang="en-US" smtClean="0"/>
              <a:t>8</a:t>
            </a:fld>
            <a:endParaRPr lang="en-US"/>
          </a:p>
        </p:txBody>
      </p:sp>
      <p:pic>
        <p:nvPicPr>
          <p:cNvPr id="8" name="Graphic 7">
            <a:extLst>
              <a:ext uri="{FF2B5EF4-FFF2-40B4-BE49-F238E27FC236}">
                <a16:creationId xmlns:a16="http://schemas.microsoft.com/office/drawing/2014/main" id="{7E9F3C61-D619-90FA-A8D8-5DBA08FA5B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4272" y="2581564"/>
            <a:ext cx="9083455" cy="847436"/>
          </a:xfrm>
          <a:prstGeom prst="rect">
            <a:avLst/>
          </a:prstGeom>
        </p:spPr>
      </p:pic>
      <p:pic>
        <p:nvPicPr>
          <p:cNvPr id="12" name="Graphic 11">
            <a:extLst>
              <a:ext uri="{FF2B5EF4-FFF2-40B4-BE49-F238E27FC236}">
                <a16:creationId xmlns:a16="http://schemas.microsoft.com/office/drawing/2014/main" id="{C2AC87A7-C952-2D9C-AC4C-7514D74A53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40534" y="3428999"/>
            <a:ext cx="3394116" cy="2424369"/>
          </a:xfrm>
          <a:prstGeom prst="rect">
            <a:avLst/>
          </a:prstGeom>
        </p:spPr>
      </p:pic>
      <p:pic>
        <p:nvPicPr>
          <p:cNvPr id="16" name="Graphic 15">
            <a:extLst>
              <a:ext uri="{FF2B5EF4-FFF2-40B4-BE49-F238E27FC236}">
                <a16:creationId xmlns:a16="http://schemas.microsoft.com/office/drawing/2014/main" id="{5E2BC392-34CC-49A0-F6E4-A5A4C44AA62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20912" y="3811840"/>
            <a:ext cx="4915313" cy="1890505"/>
          </a:xfrm>
          <a:prstGeom prst="rect">
            <a:avLst/>
          </a:prstGeom>
        </p:spPr>
      </p:pic>
    </p:spTree>
    <p:extLst>
      <p:ext uri="{BB962C8B-B14F-4D97-AF65-F5344CB8AC3E}">
        <p14:creationId xmlns:p14="http://schemas.microsoft.com/office/powerpoint/2010/main" val="256338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9B5BB-DCFD-A252-6E04-8D6E389DD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873A2-0A4C-4DC4-8F58-464D879178AB}"/>
              </a:ext>
            </a:extLst>
          </p:cNvPr>
          <p:cNvSpPr>
            <a:spLocks noGrp="1"/>
          </p:cNvSpPr>
          <p:nvPr>
            <p:ph type="title"/>
          </p:nvPr>
        </p:nvSpPr>
        <p:spPr/>
        <p:txBody>
          <a:bodyPr/>
          <a:lstStyle/>
          <a:p>
            <a:r>
              <a:rPr lang="en-US" dirty="0"/>
              <a:t>DYNAMIC SYSTEMS</a:t>
            </a:r>
          </a:p>
        </p:txBody>
      </p:sp>
      <p:sp>
        <p:nvSpPr>
          <p:cNvPr id="4" name="Date Placeholder 3">
            <a:extLst>
              <a:ext uri="{FF2B5EF4-FFF2-40B4-BE49-F238E27FC236}">
                <a16:creationId xmlns:a16="http://schemas.microsoft.com/office/drawing/2014/main" id="{38BC8503-60C9-C513-E56D-EDFC12AE1339}"/>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D7006FAF-DF44-927E-F61F-E14A6F4B1265}"/>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56755106-E614-A7A8-1438-A55329E63437}"/>
              </a:ext>
            </a:extLst>
          </p:cNvPr>
          <p:cNvSpPr>
            <a:spLocks noGrp="1"/>
          </p:cNvSpPr>
          <p:nvPr>
            <p:ph type="sldNum" sz="quarter" idx="12"/>
          </p:nvPr>
        </p:nvSpPr>
        <p:spPr/>
        <p:txBody>
          <a:bodyPr/>
          <a:lstStyle/>
          <a:p>
            <a:fld id="{81D2C36F-4504-47C0-B82F-A167342A2754}" type="slidenum">
              <a:rPr lang="en-US" smtClean="0"/>
              <a:t>9</a:t>
            </a:fld>
            <a:endParaRPr lang="en-US"/>
          </a:p>
        </p:txBody>
      </p:sp>
      <p:pic>
        <p:nvPicPr>
          <p:cNvPr id="8" name="Graphic 7">
            <a:extLst>
              <a:ext uri="{FF2B5EF4-FFF2-40B4-BE49-F238E27FC236}">
                <a16:creationId xmlns:a16="http://schemas.microsoft.com/office/drawing/2014/main" id="{80BE1BC7-1F9A-DB52-C73D-BE4DD7840A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30915" y="2659123"/>
            <a:ext cx="7330170" cy="2838852"/>
          </a:xfrm>
          <a:prstGeom prst="rect">
            <a:avLst/>
          </a:prstGeom>
        </p:spPr>
      </p:pic>
    </p:spTree>
    <p:extLst>
      <p:ext uri="{BB962C8B-B14F-4D97-AF65-F5344CB8AC3E}">
        <p14:creationId xmlns:p14="http://schemas.microsoft.com/office/powerpoint/2010/main" val="2072224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778A6-9914-8CEC-F772-9F07450078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2DFB8-5543-8669-E44D-D719F1E646CE}"/>
              </a:ext>
            </a:extLst>
          </p:cNvPr>
          <p:cNvSpPr>
            <a:spLocks noGrp="1"/>
          </p:cNvSpPr>
          <p:nvPr>
            <p:ph type="title"/>
          </p:nvPr>
        </p:nvSpPr>
        <p:spPr>
          <a:xfrm>
            <a:off x="2231136" y="301752"/>
            <a:ext cx="7729728" cy="1188720"/>
          </a:xfrm>
        </p:spPr>
        <p:txBody>
          <a:bodyPr/>
          <a:lstStyle/>
          <a:p>
            <a:r>
              <a:rPr lang="en-US" dirty="0"/>
              <a:t>DYNAMIC SYSTEMS</a:t>
            </a:r>
          </a:p>
        </p:txBody>
      </p:sp>
      <p:sp>
        <p:nvSpPr>
          <p:cNvPr id="4" name="Date Placeholder 3">
            <a:extLst>
              <a:ext uri="{FF2B5EF4-FFF2-40B4-BE49-F238E27FC236}">
                <a16:creationId xmlns:a16="http://schemas.microsoft.com/office/drawing/2014/main" id="{2BAA5BCD-6AE2-F8F8-6560-16DCBA6F9DA3}"/>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8D19E8C1-87A0-CFD9-7808-C9D2CC3D3342}"/>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26A5BD5A-45CC-9655-5706-9DF8CC25CAE5}"/>
              </a:ext>
            </a:extLst>
          </p:cNvPr>
          <p:cNvSpPr>
            <a:spLocks noGrp="1"/>
          </p:cNvSpPr>
          <p:nvPr>
            <p:ph type="sldNum" sz="quarter" idx="12"/>
          </p:nvPr>
        </p:nvSpPr>
        <p:spPr/>
        <p:txBody>
          <a:bodyPr/>
          <a:lstStyle/>
          <a:p>
            <a:fld id="{81D2C36F-4504-47C0-B82F-A167342A2754}" type="slidenum">
              <a:rPr lang="en-US" smtClean="0"/>
              <a:t>10</a:t>
            </a:fld>
            <a:endParaRPr lang="en-US"/>
          </a:p>
        </p:txBody>
      </p:sp>
      <p:pic>
        <p:nvPicPr>
          <p:cNvPr id="7" name="Graphic 6">
            <a:extLst>
              <a:ext uri="{FF2B5EF4-FFF2-40B4-BE49-F238E27FC236}">
                <a16:creationId xmlns:a16="http://schemas.microsoft.com/office/drawing/2014/main" id="{B49D071F-3E7E-DFE9-C0E8-AAA0ED8D00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236" y="2533906"/>
            <a:ext cx="5282764" cy="3317678"/>
          </a:xfrm>
          <a:prstGeom prst="rect">
            <a:avLst/>
          </a:prstGeom>
        </p:spPr>
      </p:pic>
      <p:pic>
        <p:nvPicPr>
          <p:cNvPr id="10" name="Graphic 9">
            <a:extLst>
              <a:ext uri="{FF2B5EF4-FFF2-40B4-BE49-F238E27FC236}">
                <a16:creationId xmlns:a16="http://schemas.microsoft.com/office/drawing/2014/main" id="{4A59FAFE-F9E9-56C5-DBA6-6E4DB65B34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0" y="2533906"/>
            <a:ext cx="5450471" cy="3317678"/>
          </a:xfrm>
          <a:prstGeom prst="rect">
            <a:avLst/>
          </a:prstGeom>
        </p:spPr>
      </p:pic>
      <p:pic>
        <p:nvPicPr>
          <p:cNvPr id="11" name="Graphic 10">
            <a:extLst>
              <a:ext uri="{FF2B5EF4-FFF2-40B4-BE49-F238E27FC236}">
                <a16:creationId xmlns:a16="http://schemas.microsoft.com/office/drawing/2014/main" id="{A38C62D5-8564-613D-9826-334FF77DF44F}"/>
              </a:ext>
            </a:extLst>
          </p:cNvPr>
          <p:cNvPicPr>
            <a:picLocks noChangeAspect="1"/>
          </p:cNvPicPr>
          <p:nvPr/>
        </p:nvPicPr>
        <p:blipFill>
          <a:blip>
            <a:extLst>
              <a:ext uri="{96DAC541-7B7A-43D3-8B79-37D633B846F1}">
                <asvg:svgBlip xmlns:asvg="http://schemas.microsoft.com/office/drawing/2016/SVG/main" r:embed="rId5"/>
              </a:ext>
            </a:extLst>
          </a:blip>
          <a:srcRect b="53953"/>
          <a:stretch>
            <a:fillRect/>
          </a:stretch>
        </p:blipFill>
        <p:spPr>
          <a:xfrm>
            <a:off x="2617923" y="1681935"/>
            <a:ext cx="6956153" cy="1240510"/>
          </a:xfrm>
          <a:prstGeom prst="rect">
            <a:avLst/>
          </a:prstGeom>
        </p:spPr>
      </p:pic>
      <p:pic>
        <p:nvPicPr>
          <p:cNvPr id="14" name="Graphic 13">
            <a:extLst>
              <a:ext uri="{FF2B5EF4-FFF2-40B4-BE49-F238E27FC236}">
                <a16:creationId xmlns:a16="http://schemas.microsoft.com/office/drawing/2014/main" id="{E97FC3BA-3851-10BA-F946-04A92668014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71856" y="5338074"/>
            <a:ext cx="4848288" cy="1638858"/>
          </a:xfrm>
          <a:prstGeom prst="rect">
            <a:avLst/>
          </a:prstGeom>
        </p:spPr>
      </p:pic>
    </p:spTree>
    <p:extLst>
      <p:ext uri="{BB962C8B-B14F-4D97-AF65-F5344CB8AC3E}">
        <p14:creationId xmlns:p14="http://schemas.microsoft.com/office/powerpoint/2010/main" val="76208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A5258-9FAD-2032-BCC7-9F16C1846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599EA-8147-6533-DFC1-1B8379AC3EC1}"/>
              </a:ext>
            </a:extLst>
          </p:cNvPr>
          <p:cNvSpPr>
            <a:spLocks noGrp="1"/>
          </p:cNvSpPr>
          <p:nvPr>
            <p:ph type="title"/>
          </p:nvPr>
        </p:nvSpPr>
        <p:spPr>
          <a:xfrm>
            <a:off x="2231136" y="301752"/>
            <a:ext cx="7729728" cy="1188720"/>
          </a:xfrm>
        </p:spPr>
        <p:txBody>
          <a:bodyPr/>
          <a:lstStyle/>
          <a:p>
            <a:r>
              <a:rPr lang="en-US" dirty="0"/>
              <a:t>DYNAMIC SYSTEMS</a:t>
            </a:r>
          </a:p>
        </p:txBody>
      </p:sp>
      <p:sp>
        <p:nvSpPr>
          <p:cNvPr id="4" name="Date Placeholder 3">
            <a:extLst>
              <a:ext uri="{FF2B5EF4-FFF2-40B4-BE49-F238E27FC236}">
                <a16:creationId xmlns:a16="http://schemas.microsoft.com/office/drawing/2014/main" id="{99DC1605-A069-24AA-8628-8C8A173EDAD2}"/>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010596D0-114B-7F89-A89F-AD3CEA6134EC}"/>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CACB287D-A7A1-A829-EB03-2649294C20D0}"/>
              </a:ext>
            </a:extLst>
          </p:cNvPr>
          <p:cNvSpPr>
            <a:spLocks noGrp="1"/>
          </p:cNvSpPr>
          <p:nvPr>
            <p:ph type="sldNum" sz="quarter" idx="12"/>
          </p:nvPr>
        </p:nvSpPr>
        <p:spPr/>
        <p:txBody>
          <a:bodyPr/>
          <a:lstStyle/>
          <a:p>
            <a:fld id="{81D2C36F-4504-47C0-B82F-A167342A2754}" type="slidenum">
              <a:rPr lang="en-US" smtClean="0"/>
              <a:t>11</a:t>
            </a:fld>
            <a:endParaRPr lang="en-US"/>
          </a:p>
        </p:txBody>
      </p:sp>
      <p:pic>
        <p:nvPicPr>
          <p:cNvPr id="7" name="Graphic 6">
            <a:extLst>
              <a:ext uri="{FF2B5EF4-FFF2-40B4-BE49-F238E27FC236}">
                <a16:creationId xmlns:a16="http://schemas.microsoft.com/office/drawing/2014/main" id="{2F0C2DAC-3C71-E21E-BEAA-E5C01ADE6E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236" y="2533906"/>
            <a:ext cx="5282764" cy="3317678"/>
          </a:xfrm>
          <a:prstGeom prst="rect">
            <a:avLst/>
          </a:prstGeom>
        </p:spPr>
      </p:pic>
      <p:pic>
        <p:nvPicPr>
          <p:cNvPr id="10" name="Graphic 9">
            <a:extLst>
              <a:ext uri="{FF2B5EF4-FFF2-40B4-BE49-F238E27FC236}">
                <a16:creationId xmlns:a16="http://schemas.microsoft.com/office/drawing/2014/main" id="{C12F0F2E-52EE-6FEA-0A1A-F134F9A738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0" y="2533906"/>
            <a:ext cx="5450471" cy="3317678"/>
          </a:xfrm>
          <a:prstGeom prst="rect">
            <a:avLst/>
          </a:prstGeom>
        </p:spPr>
      </p:pic>
      <p:pic>
        <p:nvPicPr>
          <p:cNvPr id="11" name="Graphic 10">
            <a:extLst>
              <a:ext uri="{FF2B5EF4-FFF2-40B4-BE49-F238E27FC236}">
                <a16:creationId xmlns:a16="http://schemas.microsoft.com/office/drawing/2014/main" id="{9C8C9F75-127A-1689-E4A2-A775FF28A1E7}"/>
              </a:ext>
            </a:extLst>
          </p:cNvPr>
          <p:cNvPicPr>
            <a:picLocks noChangeAspect="1"/>
          </p:cNvPicPr>
          <p:nvPr/>
        </p:nvPicPr>
        <p:blipFill>
          <a:blip>
            <a:extLst>
              <a:ext uri="{96DAC541-7B7A-43D3-8B79-37D633B846F1}">
                <asvg:svgBlip xmlns:asvg="http://schemas.microsoft.com/office/drawing/2016/SVG/main" r:embed="rId5"/>
              </a:ext>
            </a:extLst>
          </a:blip>
          <a:srcRect b="53953"/>
          <a:stretch>
            <a:fillRect/>
          </a:stretch>
        </p:blipFill>
        <p:spPr>
          <a:xfrm>
            <a:off x="2617923" y="1681935"/>
            <a:ext cx="6956153" cy="1240510"/>
          </a:xfrm>
          <a:prstGeom prst="rect">
            <a:avLst/>
          </a:prstGeom>
        </p:spPr>
      </p:pic>
      <p:pic>
        <p:nvPicPr>
          <p:cNvPr id="8" name="Graphic 7">
            <a:extLst>
              <a:ext uri="{FF2B5EF4-FFF2-40B4-BE49-F238E27FC236}">
                <a16:creationId xmlns:a16="http://schemas.microsoft.com/office/drawing/2014/main" id="{EDC17FF2-F350-B2E1-4B33-CEBEF495E1B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67230" y="5443822"/>
            <a:ext cx="4257540" cy="1548196"/>
          </a:xfrm>
          <a:prstGeom prst="rect">
            <a:avLst/>
          </a:prstGeom>
        </p:spPr>
      </p:pic>
    </p:spTree>
    <p:extLst>
      <p:ext uri="{BB962C8B-B14F-4D97-AF65-F5344CB8AC3E}">
        <p14:creationId xmlns:p14="http://schemas.microsoft.com/office/powerpoint/2010/main" val="406657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69333-1B81-6619-D388-5B063FA51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9823A2-DDAC-972D-6B0F-0E9D57592258}"/>
              </a:ext>
            </a:extLst>
          </p:cNvPr>
          <p:cNvSpPr>
            <a:spLocks noGrp="1"/>
          </p:cNvSpPr>
          <p:nvPr>
            <p:ph type="title"/>
          </p:nvPr>
        </p:nvSpPr>
        <p:spPr>
          <a:xfrm>
            <a:off x="2231136" y="301752"/>
            <a:ext cx="7729728" cy="1188720"/>
          </a:xfrm>
        </p:spPr>
        <p:txBody>
          <a:bodyPr/>
          <a:lstStyle/>
          <a:p>
            <a:r>
              <a:rPr lang="en-US" dirty="0"/>
              <a:t>DYNAMIC SYSTEMS</a:t>
            </a:r>
          </a:p>
        </p:txBody>
      </p:sp>
      <p:sp>
        <p:nvSpPr>
          <p:cNvPr id="4" name="Date Placeholder 3">
            <a:extLst>
              <a:ext uri="{FF2B5EF4-FFF2-40B4-BE49-F238E27FC236}">
                <a16:creationId xmlns:a16="http://schemas.microsoft.com/office/drawing/2014/main" id="{4F75C97A-7ED0-946C-6CFC-2F176E5C4A26}"/>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BD2EDD31-35EF-2A65-F7D6-A4E93BB617DD}"/>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F2783786-0A12-8BA4-196B-7D00C69F8FC7}"/>
              </a:ext>
            </a:extLst>
          </p:cNvPr>
          <p:cNvSpPr>
            <a:spLocks noGrp="1"/>
          </p:cNvSpPr>
          <p:nvPr>
            <p:ph type="sldNum" sz="quarter" idx="12"/>
          </p:nvPr>
        </p:nvSpPr>
        <p:spPr/>
        <p:txBody>
          <a:bodyPr/>
          <a:lstStyle/>
          <a:p>
            <a:fld id="{81D2C36F-4504-47C0-B82F-A167342A2754}" type="slidenum">
              <a:rPr lang="en-US" smtClean="0"/>
              <a:t>12</a:t>
            </a:fld>
            <a:endParaRPr lang="en-US"/>
          </a:p>
        </p:txBody>
      </p:sp>
      <p:pic>
        <p:nvPicPr>
          <p:cNvPr id="7" name="Graphic 6">
            <a:extLst>
              <a:ext uri="{FF2B5EF4-FFF2-40B4-BE49-F238E27FC236}">
                <a16:creationId xmlns:a16="http://schemas.microsoft.com/office/drawing/2014/main" id="{9DAD5A33-6931-B5D2-6FC8-3AB15DAE4E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236" y="2533906"/>
            <a:ext cx="5282764" cy="3317678"/>
          </a:xfrm>
          <a:prstGeom prst="rect">
            <a:avLst/>
          </a:prstGeom>
        </p:spPr>
      </p:pic>
      <p:pic>
        <p:nvPicPr>
          <p:cNvPr id="10" name="Graphic 9">
            <a:extLst>
              <a:ext uri="{FF2B5EF4-FFF2-40B4-BE49-F238E27FC236}">
                <a16:creationId xmlns:a16="http://schemas.microsoft.com/office/drawing/2014/main" id="{C67C688F-43D3-431F-43A8-6E6C3B9E8F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0" y="2533906"/>
            <a:ext cx="5450471" cy="3317678"/>
          </a:xfrm>
          <a:prstGeom prst="rect">
            <a:avLst/>
          </a:prstGeom>
        </p:spPr>
      </p:pic>
      <p:pic>
        <p:nvPicPr>
          <p:cNvPr id="11" name="Graphic 10">
            <a:extLst>
              <a:ext uri="{FF2B5EF4-FFF2-40B4-BE49-F238E27FC236}">
                <a16:creationId xmlns:a16="http://schemas.microsoft.com/office/drawing/2014/main" id="{8668553D-6FF0-2A39-3B94-241C5AA45294}"/>
              </a:ext>
            </a:extLst>
          </p:cNvPr>
          <p:cNvPicPr>
            <a:picLocks noChangeAspect="1"/>
          </p:cNvPicPr>
          <p:nvPr/>
        </p:nvPicPr>
        <p:blipFill>
          <a:blip>
            <a:extLst>
              <a:ext uri="{96DAC541-7B7A-43D3-8B79-37D633B846F1}">
                <asvg:svgBlip xmlns:asvg="http://schemas.microsoft.com/office/drawing/2016/SVG/main" r:embed="rId5"/>
              </a:ext>
            </a:extLst>
          </a:blip>
          <a:srcRect b="53953"/>
          <a:stretch>
            <a:fillRect/>
          </a:stretch>
        </p:blipFill>
        <p:spPr>
          <a:xfrm>
            <a:off x="2617923" y="1681935"/>
            <a:ext cx="6956153" cy="1240510"/>
          </a:xfrm>
          <a:prstGeom prst="rect">
            <a:avLst/>
          </a:prstGeom>
        </p:spPr>
      </p:pic>
      <p:pic>
        <p:nvPicPr>
          <p:cNvPr id="9" name="Graphic 8">
            <a:extLst>
              <a:ext uri="{FF2B5EF4-FFF2-40B4-BE49-F238E27FC236}">
                <a16:creationId xmlns:a16="http://schemas.microsoft.com/office/drawing/2014/main" id="{451F5A45-EA10-E796-6398-D3C7FBD6287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149681" y="5597665"/>
            <a:ext cx="3892635" cy="1240510"/>
          </a:xfrm>
          <a:prstGeom prst="rect">
            <a:avLst/>
          </a:prstGeom>
        </p:spPr>
      </p:pic>
    </p:spTree>
    <p:extLst>
      <p:ext uri="{BB962C8B-B14F-4D97-AF65-F5344CB8AC3E}">
        <p14:creationId xmlns:p14="http://schemas.microsoft.com/office/powerpoint/2010/main" val="1528209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BC074-515A-BDE3-7B49-FDB1712C9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97532-6FA6-2883-3589-6CBAB6599C66}"/>
              </a:ext>
            </a:extLst>
          </p:cNvPr>
          <p:cNvSpPr>
            <a:spLocks noGrp="1"/>
          </p:cNvSpPr>
          <p:nvPr>
            <p:ph type="title"/>
          </p:nvPr>
        </p:nvSpPr>
        <p:spPr/>
        <p:txBody>
          <a:bodyPr/>
          <a:lstStyle/>
          <a:p>
            <a:r>
              <a:rPr lang="en-US" dirty="0"/>
              <a:t>DYNAMIC SYSTEMS</a:t>
            </a:r>
          </a:p>
        </p:txBody>
      </p:sp>
      <p:sp>
        <p:nvSpPr>
          <p:cNvPr id="4" name="Date Placeholder 3">
            <a:extLst>
              <a:ext uri="{FF2B5EF4-FFF2-40B4-BE49-F238E27FC236}">
                <a16:creationId xmlns:a16="http://schemas.microsoft.com/office/drawing/2014/main" id="{B18C7EDA-039A-EC57-52E1-81EE86450D61}"/>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C3D06F6F-53F5-27EE-4251-2C3A4B611C89}"/>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11027CE9-81F1-26AC-B5DA-22BD02FB1FD9}"/>
              </a:ext>
            </a:extLst>
          </p:cNvPr>
          <p:cNvSpPr>
            <a:spLocks noGrp="1"/>
          </p:cNvSpPr>
          <p:nvPr>
            <p:ph type="sldNum" sz="quarter" idx="12"/>
          </p:nvPr>
        </p:nvSpPr>
        <p:spPr/>
        <p:txBody>
          <a:bodyPr/>
          <a:lstStyle/>
          <a:p>
            <a:fld id="{81D2C36F-4504-47C0-B82F-A167342A2754}" type="slidenum">
              <a:rPr lang="en-US" smtClean="0"/>
              <a:t>13</a:t>
            </a:fld>
            <a:endParaRPr lang="en-US"/>
          </a:p>
        </p:txBody>
      </p:sp>
      <p:pic>
        <p:nvPicPr>
          <p:cNvPr id="7" name="Graphic 6">
            <a:extLst>
              <a:ext uri="{FF2B5EF4-FFF2-40B4-BE49-F238E27FC236}">
                <a16:creationId xmlns:a16="http://schemas.microsoft.com/office/drawing/2014/main" id="{A83180C2-4DC2-6A02-9853-502ED5159B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02869" y="2341863"/>
            <a:ext cx="5020920" cy="2947766"/>
          </a:xfrm>
          <a:prstGeom prst="rect">
            <a:avLst/>
          </a:prstGeom>
        </p:spPr>
      </p:pic>
    </p:spTree>
    <p:extLst>
      <p:ext uri="{BB962C8B-B14F-4D97-AF65-F5344CB8AC3E}">
        <p14:creationId xmlns:p14="http://schemas.microsoft.com/office/powerpoint/2010/main" val="3759883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BD410-1F44-52D5-E60C-1C68D9988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6FEF8-D330-8BC5-7045-09667842513D}"/>
              </a:ext>
            </a:extLst>
          </p:cNvPr>
          <p:cNvSpPr>
            <a:spLocks noGrp="1"/>
          </p:cNvSpPr>
          <p:nvPr>
            <p:ph type="title"/>
          </p:nvPr>
        </p:nvSpPr>
        <p:spPr/>
        <p:txBody>
          <a:bodyPr/>
          <a:lstStyle/>
          <a:p>
            <a:r>
              <a:rPr lang="en-US" dirty="0"/>
              <a:t>DYNAMIC SYSTEMS</a:t>
            </a:r>
          </a:p>
        </p:txBody>
      </p:sp>
      <p:sp>
        <p:nvSpPr>
          <p:cNvPr id="4" name="Date Placeholder 3">
            <a:extLst>
              <a:ext uri="{FF2B5EF4-FFF2-40B4-BE49-F238E27FC236}">
                <a16:creationId xmlns:a16="http://schemas.microsoft.com/office/drawing/2014/main" id="{75D57B5C-E84B-6F52-7F63-8C3D29E88CF4}"/>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482B73DF-3FF9-197C-5034-8F984B4562FF}"/>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790C5FE3-AEBF-A6BC-8FED-A4C2D803E62F}"/>
              </a:ext>
            </a:extLst>
          </p:cNvPr>
          <p:cNvSpPr>
            <a:spLocks noGrp="1"/>
          </p:cNvSpPr>
          <p:nvPr>
            <p:ph type="sldNum" sz="quarter" idx="12"/>
          </p:nvPr>
        </p:nvSpPr>
        <p:spPr/>
        <p:txBody>
          <a:bodyPr/>
          <a:lstStyle/>
          <a:p>
            <a:fld id="{81D2C36F-4504-47C0-B82F-A167342A2754}" type="slidenum">
              <a:rPr lang="en-US" smtClean="0"/>
              <a:t>14</a:t>
            </a:fld>
            <a:endParaRPr lang="en-US"/>
          </a:p>
        </p:txBody>
      </p:sp>
      <p:pic>
        <p:nvPicPr>
          <p:cNvPr id="8" name="Graphic 7">
            <a:extLst>
              <a:ext uri="{FF2B5EF4-FFF2-40B4-BE49-F238E27FC236}">
                <a16:creationId xmlns:a16="http://schemas.microsoft.com/office/drawing/2014/main" id="{94DDFC55-4FEE-AA6C-3AA7-3D2DC37907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30915" y="2659123"/>
            <a:ext cx="7330170" cy="2838852"/>
          </a:xfrm>
          <a:prstGeom prst="rect">
            <a:avLst/>
          </a:prstGeom>
        </p:spPr>
      </p:pic>
    </p:spTree>
    <p:extLst>
      <p:ext uri="{BB962C8B-B14F-4D97-AF65-F5344CB8AC3E}">
        <p14:creationId xmlns:p14="http://schemas.microsoft.com/office/powerpoint/2010/main" val="3753045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54BBB-1487-EA50-8458-D85B19051E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FC7ABB-ADB1-ADA6-1837-F54358AE647B}"/>
              </a:ext>
            </a:extLst>
          </p:cNvPr>
          <p:cNvSpPr>
            <a:spLocks noGrp="1"/>
          </p:cNvSpPr>
          <p:nvPr>
            <p:ph type="title"/>
          </p:nvPr>
        </p:nvSpPr>
        <p:spPr/>
        <p:txBody>
          <a:bodyPr/>
          <a:lstStyle/>
          <a:p>
            <a:r>
              <a:rPr lang="en-US" dirty="0"/>
              <a:t>Linux</a:t>
            </a:r>
          </a:p>
        </p:txBody>
      </p:sp>
      <p:pic>
        <p:nvPicPr>
          <p:cNvPr id="8" name="Content Placeholder 7">
            <a:extLst>
              <a:ext uri="{FF2B5EF4-FFF2-40B4-BE49-F238E27FC236}">
                <a16:creationId xmlns:a16="http://schemas.microsoft.com/office/drawing/2014/main" id="{B647928A-6F63-A3BF-F31F-4230BA50B7A0}"/>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561935" y="2842688"/>
            <a:ext cx="5534065" cy="2622414"/>
          </a:xfrm>
          <a:prstGeom prst="rect">
            <a:avLst/>
          </a:prstGeom>
        </p:spPr>
      </p:pic>
      <p:sp>
        <p:nvSpPr>
          <p:cNvPr id="4" name="Date Placeholder 3">
            <a:extLst>
              <a:ext uri="{FF2B5EF4-FFF2-40B4-BE49-F238E27FC236}">
                <a16:creationId xmlns:a16="http://schemas.microsoft.com/office/drawing/2014/main" id="{A13ABDD1-8D7D-FFA7-250F-3B219A3ABA14}"/>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D630BC45-2189-E041-2293-21398FC97C1B}"/>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AD565E67-D4AE-635D-2FC3-C379E2379100}"/>
              </a:ext>
            </a:extLst>
          </p:cNvPr>
          <p:cNvSpPr>
            <a:spLocks noGrp="1"/>
          </p:cNvSpPr>
          <p:nvPr>
            <p:ph type="sldNum" sz="quarter" idx="12"/>
          </p:nvPr>
        </p:nvSpPr>
        <p:spPr/>
        <p:txBody>
          <a:bodyPr/>
          <a:lstStyle/>
          <a:p>
            <a:fld id="{81D2C36F-4504-47C0-B82F-A167342A2754}" type="slidenum">
              <a:rPr lang="en-US" smtClean="0"/>
              <a:t>15</a:t>
            </a:fld>
            <a:endParaRPr lang="en-US"/>
          </a:p>
        </p:txBody>
      </p:sp>
      <p:sp>
        <p:nvSpPr>
          <p:cNvPr id="9" name="Content Placeholder 2">
            <a:extLst>
              <a:ext uri="{FF2B5EF4-FFF2-40B4-BE49-F238E27FC236}">
                <a16:creationId xmlns:a16="http://schemas.microsoft.com/office/drawing/2014/main" id="{860980D0-E112-3E87-FFB7-8F72E07A21D8}"/>
              </a:ext>
            </a:extLst>
          </p:cNvPr>
          <p:cNvSpPr txBox="1">
            <a:spLocks/>
          </p:cNvSpPr>
          <p:nvPr/>
        </p:nvSpPr>
        <p:spPr>
          <a:xfrm>
            <a:off x="6096000" y="3559535"/>
            <a:ext cx="5534065" cy="118872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New default scheduler for fair scheduling classes (previously CFS)</a:t>
            </a:r>
          </a:p>
          <a:p>
            <a:pPr lvl="1"/>
            <a:r>
              <a:rPr lang="en-US" dirty="0"/>
              <a:t>Merged as an option for the 6.6 Linux kernel, Oct 29, 2023</a:t>
            </a:r>
          </a:p>
          <a:p>
            <a:endParaRPr lang="en-US" dirty="0"/>
          </a:p>
        </p:txBody>
      </p:sp>
    </p:spTree>
    <p:extLst>
      <p:ext uri="{BB962C8B-B14F-4D97-AF65-F5344CB8AC3E}">
        <p14:creationId xmlns:p14="http://schemas.microsoft.com/office/powerpoint/2010/main" val="1987283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6FC46-2D7C-E838-2E3A-5A6674521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FDCC6-B56F-7E35-662B-3C0A12AD4D85}"/>
              </a:ext>
            </a:extLst>
          </p:cNvPr>
          <p:cNvSpPr>
            <a:spLocks noGrp="1"/>
          </p:cNvSpPr>
          <p:nvPr>
            <p:ph type="title"/>
          </p:nvPr>
        </p:nvSpPr>
        <p:spPr/>
        <p:txBody>
          <a:bodyPr/>
          <a:lstStyle/>
          <a:p>
            <a:r>
              <a:rPr lang="en-US" dirty="0"/>
              <a:t>Linux</a:t>
            </a:r>
          </a:p>
        </p:txBody>
      </p:sp>
      <p:sp>
        <p:nvSpPr>
          <p:cNvPr id="4" name="Date Placeholder 3">
            <a:extLst>
              <a:ext uri="{FF2B5EF4-FFF2-40B4-BE49-F238E27FC236}">
                <a16:creationId xmlns:a16="http://schemas.microsoft.com/office/drawing/2014/main" id="{127AD532-2F2F-9C73-87E8-97D28FDDAEC6}"/>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B715FBE3-3E5F-3811-31F1-EA4C7FEA54B7}"/>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00CCA9F9-685E-3C2F-5885-AFD27F19EDE7}"/>
              </a:ext>
            </a:extLst>
          </p:cNvPr>
          <p:cNvSpPr>
            <a:spLocks noGrp="1"/>
          </p:cNvSpPr>
          <p:nvPr>
            <p:ph type="sldNum" sz="quarter" idx="12"/>
          </p:nvPr>
        </p:nvSpPr>
        <p:spPr/>
        <p:txBody>
          <a:bodyPr/>
          <a:lstStyle/>
          <a:p>
            <a:fld id="{81D2C36F-4504-47C0-B82F-A167342A2754}" type="slidenum">
              <a:rPr lang="en-US" smtClean="0"/>
              <a:t>16</a:t>
            </a:fld>
            <a:endParaRPr lang="en-US"/>
          </a:p>
        </p:txBody>
      </p:sp>
      <p:sp>
        <p:nvSpPr>
          <p:cNvPr id="9" name="Content Placeholder 2">
            <a:extLst>
              <a:ext uri="{FF2B5EF4-FFF2-40B4-BE49-F238E27FC236}">
                <a16:creationId xmlns:a16="http://schemas.microsoft.com/office/drawing/2014/main" id="{8227D4A9-0C36-349F-7001-8672A3A74772}"/>
              </a:ext>
            </a:extLst>
          </p:cNvPr>
          <p:cNvSpPr txBox="1">
            <a:spLocks/>
          </p:cNvSpPr>
          <p:nvPr/>
        </p:nvSpPr>
        <p:spPr>
          <a:xfrm>
            <a:off x="1426209" y="2675138"/>
            <a:ext cx="4517179" cy="251932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Rb tree of `</a:t>
            </a:r>
            <a:r>
              <a:rPr lang="en-US" dirty="0" err="1"/>
              <a:t>sced_entity</a:t>
            </a:r>
            <a:r>
              <a:rPr lang="en-US" dirty="0"/>
              <a:t>` structs</a:t>
            </a:r>
          </a:p>
          <a:p>
            <a:r>
              <a:rPr lang="en-US" dirty="0" err="1"/>
              <a:t>vruntime</a:t>
            </a:r>
            <a:endParaRPr lang="en-US" dirty="0"/>
          </a:p>
          <a:p>
            <a:endParaRPr lang="en-US" dirty="0"/>
          </a:p>
          <a:p>
            <a:endParaRPr lang="en-US" dirty="0"/>
          </a:p>
          <a:p>
            <a:r>
              <a:rPr lang="en-US" dirty="0"/>
              <a:t>Virtual time ~ average virtual runtime</a:t>
            </a:r>
          </a:p>
          <a:p>
            <a:r>
              <a:rPr lang="en-US" dirty="0" err="1"/>
              <a:t>vlag</a:t>
            </a:r>
            <a:endParaRPr lang="en-US" dirty="0"/>
          </a:p>
          <a:p>
            <a:pPr marL="0" indent="0">
              <a:buNone/>
            </a:pPr>
            <a:endParaRPr lang="en-US" dirty="0"/>
          </a:p>
          <a:p>
            <a:endParaRPr lang="en-US" dirty="0"/>
          </a:p>
          <a:p>
            <a:endParaRPr lang="en-US" dirty="0"/>
          </a:p>
        </p:txBody>
      </p:sp>
      <p:pic>
        <p:nvPicPr>
          <p:cNvPr id="11" name="Graphic 10">
            <a:extLst>
              <a:ext uri="{FF2B5EF4-FFF2-40B4-BE49-F238E27FC236}">
                <a16:creationId xmlns:a16="http://schemas.microsoft.com/office/drawing/2014/main" id="{D7EC2EE3-E7F5-6048-FDCE-51DADEE4C7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0200" y="3444322"/>
            <a:ext cx="2642012" cy="751792"/>
          </a:xfrm>
          <a:prstGeom prst="rect">
            <a:avLst/>
          </a:prstGeom>
        </p:spPr>
      </p:pic>
      <p:pic>
        <p:nvPicPr>
          <p:cNvPr id="15" name="Graphic 14">
            <a:extLst>
              <a:ext uri="{FF2B5EF4-FFF2-40B4-BE49-F238E27FC236}">
                <a16:creationId xmlns:a16="http://schemas.microsoft.com/office/drawing/2014/main" id="{473AB2FE-F92F-C12D-9C89-18518F4A21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00200" y="5194465"/>
            <a:ext cx="2885627" cy="572545"/>
          </a:xfrm>
          <a:prstGeom prst="rect">
            <a:avLst/>
          </a:prstGeom>
        </p:spPr>
      </p:pic>
      <p:pic>
        <p:nvPicPr>
          <p:cNvPr id="17" name="Graphic 16">
            <a:extLst>
              <a:ext uri="{FF2B5EF4-FFF2-40B4-BE49-F238E27FC236}">
                <a16:creationId xmlns:a16="http://schemas.microsoft.com/office/drawing/2014/main" id="{0AC1777B-3D21-6FC8-5088-1AB241DA680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88534" y="2470980"/>
            <a:ext cx="3486641" cy="1200954"/>
          </a:xfrm>
          <a:prstGeom prst="rect">
            <a:avLst/>
          </a:prstGeom>
        </p:spPr>
      </p:pic>
      <p:sp>
        <p:nvSpPr>
          <p:cNvPr id="20" name="Content Placeholder 2">
            <a:extLst>
              <a:ext uri="{FF2B5EF4-FFF2-40B4-BE49-F238E27FC236}">
                <a16:creationId xmlns:a16="http://schemas.microsoft.com/office/drawing/2014/main" id="{2DC262AA-5EE3-24B3-DEBB-201F1A084954}"/>
              </a:ext>
            </a:extLst>
          </p:cNvPr>
          <p:cNvSpPr txBox="1">
            <a:spLocks/>
          </p:cNvSpPr>
          <p:nvPr/>
        </p:nvSpPr>
        <p:spPr>
          <a:xfrm>
            <a:off x="6442669" y="3671934"/>
            <a:ext cx="5511265" cy="256427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Weight -&gt; niceness</a:t>
            </a:r>
          </a:p>
          <a:p>
            <a:pPr lvl="1"/>
            <a:r>
              <a:rPr lang="en-US" dirty="0"/>
              <a:t>Larger niceness values -&gt; lower weight</a:t>
            </a:r>
          </a:p>
          <a:p>
            <a:r>
              <a:rPr lang="en-US" dirty="0"/>
              <a:t>Request size</a:t>
            </a:r>
          </a:p>
          <a:p>
            <a:pPr lvl="1"/>
            <a:r>
              <a:rPr lang="en-US" dirty="0"/>
              <a:t>More complicated</a:t>
            </a:r>
          </a:p>
          <a:p>
            <a:pPr lvl="1"/>
            <a:r>
              <a:rPr lang="en-US" dirty="0" err="1"/>
              <a:t>sched_base_slice_ns</a:t>
            </a:r>
            <a:endParaRPr lang="en-US" dirty="0"/>
          </a:p>
          <a:p>
            <a:pPr lvl="1"/>
            <a:r>
              <a:rPr lang="en-US" dirty="0" err="1"/>
              <a:t>sched_setattr</a:t>
            </a:r>
            <a:r>
              <a:rPr lang="en-US" dirty="0"/>
              <a:t>() sys call</a:t>
            </a:r>
          </a:p>
          <a:p>
            <a:pPr lvl="1"/>
            <a:r>
              <a:rPr lang="en-US" dirty="0"/>
              <a:t>Latency nice</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083792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F0250-02C8-BC82-66D0-1891F230E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5C10FC-3D02-F1BF-C055-64AD9F99C9E4}"/>
              </a:ext>
            </a:extLst>
          </p:cNvPr>
          <p:cNvSpPr>
            <a:spLocks noGrp="1"/>
          </p:cNvSpPr>
          <p:nvPr>
            <p:ph type="title"/>
          </p:nvPr>
        </p:nvSpPr>
        <p:spPr/>
        <p:txBody>
          <a:bodyPr/>
          <a:lstStyle/>
          <a:p>
            <a:r>
              <a:rPr lang="en-US" dirty="0"/>
              <a:t>Mathematical Results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040024E-A64E-076C-5542-BD01685936BB}"/>
                  </a:ext>
                </a:extLst>
              </p:cNvPr>
              <p:cNvSpPr>
                <a:spLocks noGrp="1"/>
              </p:cNvSpPr>
              <p:nvPr>
                <p:ph idx="1"/>
              </p:nvPr>
            </p:nvSpPr>
            <p:spPr/>
            <p:txBody>
              <a:bodyPr/>
              <a:lstStyle/>
              <a:p>
                <a:r>
                  <a:rPr lang="en-US" dirty="0"/>
                  <a:t>Proof that EEVDF is work-conserving</a:t>
                </a:r>
              </a:p>
              <a:p>
                <a:r>
                  <a:rPr lang="en-US" dirty="0"/>
                  <a:t>Derivation of dynamic rules</a:t>
                </a:r>
              </a:p>
              <a:p>
                <a:r>
                  <a:rPr lang="en-US" dirty="0"/>
                  <a:t>Optimality in class of proportional share schedulers</a:t>
                </a:r>
              </a:p>
              <a:p>
                <a:r>
                  <a:rPr lang="en-US" dirty="0"/>
                  <a:t>Modified proofs of bounds on steady systems</a:t>
                </a:r>
              </a:p>
              <a:p>
                <a:r>
                  <a:rPr lang="en-US" dirty="0"/>
                  <a:t>Fixed proof of tightness bound for s-system in the case that </a:t>
                </a:r>
                <a14:m>
                  <m:oMath xmlns:m="http://schemas.openxmlformats.org/officeDocument/2006/math">
                    <m:r>
                      <m:rPr>
                        <m:sty m:val="p"/>
                      </m:rPr>
                      <a:rPr lang="en-US" b="0" i="1" smtClean="0">
                        <a:latin typeface="Cambria Math" panose="02040503050406030204" pitchFamily="18" charset="0"/>
                      </a:rPr>
                      <m:t>q</m:t>
                    </m:r>
                    <m:r>
                      <a:rPr lang="en-US" b="0" i="1" smtClean="0">
                        <a:latin typeface="Cambria Math" panose="02040503050406030204" pitchFamily="18" charset="0"/>
                        <a:ea typeface="Cambria Math" panose="02040503050406030204" pitchFamily="18" charset="0"/>
                      </a:rPr>
                      <m:t>≤</m:t>
                    </m:r>
                    <m:r>
                      <m:rPr>
                        <m:sty m:val="p"/>
                      </m:rPr>
                      <a:rPr lang="en-US" b="0" i="1" smtClean="0">
                        <a:latin typeface="Cambria Math" panose="02040503050406030204" pitchFamily="18" charset="0"/>
                        <a:ea typeface="Cambria Math" panose="02040503050406030204" pitchFamily="18" charset="0"/>
                      </a:rPr>
                      <m:t>r</m:t>
                    </m:r>
                  </m:oMath>
                </a14:m>
                <a:endParaRPr lang="en-US" dirty="0"/>
              </a:p>
            </p:txBody>
          </p:sp>
        </mc:Choice>
        <mc:Fallback>
          <p:sp>
            <p:nvSpPr>
              <p:cNvPr id="3" name="Content Placeholder 2">
                <a:extLst>
                  <a:ext uri="{FF2B5EF4-FFF2-40B4-BE49-F238E27FC236}">
                    <a16:creationId xmlns:a16="http://schemas.microsoft.com/office/drawing/2014/main" id="{2040024E-A64E-076C-5542-BD01685936BB}"/>
                  </a:ext>
                </a:extLst>
              </p:cNvPr>
              <p:cNvSpPr>
                <a:spLocks noGrp="1" noRot="1" noChangeAspect="1" noMove="1" noResize="1" noEditPoints="1" noAdjustHandles="1" noChangeArrowheads="1" noChangeShapeType="1" noTextEdit="1"/>
              </p:cNvSpPr>
              <p:nvPr>
                <p:ph idx="1"/>
              </p:nvPr>
            </p:nvSpPr>
            <p:spPr>
              <a:blipFill>
                <a:blip r:embed="rId3"/>
                <a:stretch>
                  <a:fillRect l="-492" t="-81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00D78ADB-421B-CA94-F419-F26160A37B6C}"/>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8CF35F89-AEDC-6629-8A6C-06D9438D76B7}"/>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E569F789-C9F1-05A4-2482-ACDACEB6C4F0}"/>
              </a:ext>
            </a:extLst>
          </p:cNvPr>
          <p:cNvSpPr>
            <a:spLocks noGrp="1"/>
          </p:cNvSpPr>
          <p:nvPr>
            <p:ph type="sldNum" sz="quarter" idx="12"/>
          </p:nvPr>
        </p:nvSpPr>
        <p:spPr/>
        <p:txBody>
          <a:bodyPr/>
          <a:lstStyle/>
          <a:p>
            <a:fld id="{81D2C36F-4504-47C0-B82F-A167342A2754}" type="slidenum">
              <a:rPr lang="en-US" smtClean="0"/>
              <a:t>17</a:t>
            </a:fld>
            <a:endParaRPr lang="en-US"/>
          </a:p>
        </p:txBody>
      </p:sp>
    </p:spTree>
    <p:extLst>
      <p:ext uri="{BB962C8B-B14F-4D97-AF65-F5344CB8AC3E}">
        <p14:creationId xmlns:p14="http://schemas.microsoft.com/office/powerpoint/2010/main" val="3824279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7AD8D-E0AB-42C1-AE1E-CC6F3BC5DE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654F1-1A6E-6AAE-EEB3-F40C0F38C5C4}"/>
              </a:ext>
            </a:extLst>
          </p:cNvPr>
          <p:cNvSpPr>
            <a:spLocks noGrp="1"/>
          </p:cNvSpPr>
          <p:nvPr>
            <p:ph type="title"/>
          </p:nvPr>
        </p:nvSpPr>
        <p:spPr/>
        <p:txBody>
          <a:bodyPr/>
          <a:lstStyle/>
          <a:p>
            <a:r>
              <a:rPr lang="en-US" dirty="0"/>
              <a:t>Further Work</a:t>
            </a:r>
          </a:p>
        </p:txBody>
      </p:sp>
      <p:sp>
        <p:nvSpPr>
          <p:cNvPr id="3" name="Content Placeholder 2">
            <a:extLst>
              <a:ext uri="{FF2B5EF4-FFF2-40B4-BE49-F238E27FC236}">
                <a16:creationId xmlns:a16="http://schemas.microsoft.com/office/drawing/2014/main" id="{B6A897F9-286E-78EC-611D-CA8A094E0449}"/>
              </a:ext>
            </a:extLst>
          </p:cNvPr>
          <p:cNvSpPr>
            <a:spLocks noGrp="1"/>
          </p:cNvSpPr>
          <p:nvPr>
            <p:ph idx="1"/>
          </p:nvPr>
        </p:nvSpPr>
        <p:spPr/>
        <p:txBody>
          <a:bodyPr>
            <a:normAutofit/>
          </a:bodyPr>
          <a:lstStyle/>
          <a:p>
            <a:r>
              <a:rPr lang="en-US" sz="2800" dirty="0"/>
              <a:t>Precise model of EEVDF in Linux</a:t>
            </a:r>
          </a:p>
          <a:p>
            <a:r>
              <a:rPr lang="en-US" sz="2800" dirty="0"/>
              <a:t>Latency-nice patch</a:t>
            </a:r>
          </a:p>
        </p:txBody>
      </p:sp>
      <p:sp>
        <p:nvSpPr>
          <p:cNvPr id="4" name="Date Placeholder 3">
            <a:extLst>
              <a:ext uri="{FF2B5EF4-FFF2-40B4-BE49-F238E27FC236}">
                <a16:creationId xmlns:a16="http://schemas.microsoft.com/office/drawing/2014/main" id="{9CEEBB0B-4CBB-C234-CEA2-1559477D9B25}"/>
              </a:ext>
            </a:extLst>
          </p:cNvPr>
          <p:cNvSpPr>
            <a:spLocks noGrp="1"/>
          </p:cNvSpPr>
          <p:nvPr>
            <p:ph type="dt" sz="half" idx="10"/>
          </p:nvPr>
        </p:nvSpPr>
        <p:spPr/>
        <p:txBody>
          <a:bodyPr/>
          <a:lstStyle/>
          <a:p>
            <a:r>
              <a:rPr lang="en-US" dirty="0"/>
              <a:t>4/6/2026</a:t>
            </a:r>
          </a:p>
        </p:txBody>
      </p:sp>
      <p:sp>
        <p:nvSpPr>
          <p:cNvPr id="5" name="Footer Placeholder 4">
            <a:extLst>
              <a:ext uri="{FF2B5EF4-FFF2-40B4-BE49-F238E27FC236}">
                <a16:creationId xmlns:a16="http://schemas.microsoft.com/office/drawing/2014/main" id="{0934D63A-417E-EB95-B786-A32BCE4F03A7}"/>
              </a:ext>
            </a:extLst>
          </p:cNvPr>
          <p:cNvSpPr>
            <a:spLocks noGrp="1"/>
          </p:cNvSpPr>
          <p:nvPr>
            <p:ph type="ftr" sz="quarter" idx="11"/>
          </p:nvPr>
        </p:nvSpPr>
        <p:spPr/>
        <p:txBody>
          <a:bodyPr/>
          <a:lstStyle/>
          <a:p>
            <a:r>
              <a:rPr lang="en-US" dirty="0"/>
              <a:t>Sarah Barnes Haddix</a:t>
            </a:r>
          </a:p>
        </p:txBody>
      </p:sp>
      <p:sp>
        <p:nvSpPr>
          <p:cNvPr id="6" name="Slide Number Placeholder 5">
            <a:extLst>
              <a:ext uri="{FF2B5EF4-FFF2-40B4-BE49-F238E27FC236}">
                <a16:creationId xmlns:a16="http://schemas.microsoft.com/office/drawing/2014/main" id="{9E9B5CE7-37B6-A3A5-6D22-902256A4560A}"/>
              </a:ext>
            </a:extLst>
          </p:cNvPr>
          <p:cNvSpPr>
            <a:spLocks noGrp="1"/>
          </p:cNvSpPr>
          <p:nvPr>
            <p:ph type="sldNum" sz="quarter" idx="12"/>
          </p:nvPr>
        </p:nvSpPr>
        <p:spPr/>
        <p:txBody>
          <a:bodyPr/>
          <a:lstStyle/>
          <a:p>
            <a:fld id="{81D2C36F-4504-47C0-B82F-A167342A2754}" type="slidenum">
              <a:rPr lang="en-US" smtClean="0"/>
              <a:t>18</a:t>
            </a:fld>
            <a:endParaRPr lang="en-US"/>
          </a:p>
        </p:txBody>
      </p:sp>
    </p:spTree>
    <p:extLst>
      <p:ext uri="{BB962C8B-B14F-4D97-AF65-F5344CB8AC3E}">
        <p14:creationId xmlns:p14="http://schemas.microsoft.com/office/powerpoint/2010/main" val="3973439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A4D72-654C-1FDA-728B-CDC17521AE81}"/>
              </a:ext>
            </a:extLst>
          </p:cNvPr>
          <p:cNvSpPr>
            <a:spLocks noGrp="1"/>
          </p:cNvSpPr>
          <p:nvPr>
            <p:ph type="title"/>
          </p:nvPr>
        </p:nvSpPr>
        <p:spPr/>
        <p:txBody>
          <a:bodyPr/>
          <a:lstStyle/>
          <a:p>
            <a:r>
              <a:rPr lang="en-US" dirty="0"/>
              <a:t>Questions</a:t>
            </a:r>
          </a:p>
        </p:txBody>
      </p:sp>
      <p:sp>
        <p:nvSpPr>
          <p:cNvPr id="3" name="Text Placeholder 2">
            <a:extLst>
              <a:ext uri="{FF2B5EF4-FFF2-40B4-BE49-F238E27FC236}">
                <a16:creationId xmlns:a16="http://schemas.microsoft.com/office/drawing/2014/main" id="{87FD82CA-3E41-ADDF-9F1E-DB651D21A7B4}"/>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AFE7A559-03B4-E08D-2A32-ECF2AAE24CEC}"/>
              </a:ext>
            </a:extLst>
          </p:cNvPr>
          <p:cNvSpPr>
            <a:spLocks noGrp="1"/>
          </p:cNvSpPr>
          <p:nvPr>
            <p:ph type="dt" sz="half" idx="10"/>
          </p:nvPr>
        </p:nvSpPr>
        <p:spPr/>
        <p:txBody>
          <a:bodyPr/>
          <a:lstStyle/>
          <a:p>
            <a:fld id="{60E05506-6815-4E0E-B1DE-ECA35C2016DF}" type="datetime1">
              <a:rPr lang="en-US" smtClean="0"/>
              <a:t>4/5/26</a:t>
            </a:fld>
            <a:endParaRPr lang="en-US"/>
          </a:p>
        </p:txBody>
      </p:sp>
      <p:sp>
        <p:nvSpPr>
          <p:cNvPr id="5" name="Footer Placeholder 4">
            <a:extLst>
              <a:ext uri="{FF2B5EF4-FFF2-40B4-BE49-F238E27FC236}">
                <a16:creationId xmlns:a16="http://schemas.microsoft.com/office/drawing/2014/main" id="{F393F613-69E0-6C07-73CD-BA066A124A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3D0FCF-4FCA-CBB8-9E8F-D099760F5E13}"/>
              </a:ext>
            </a:extLst>
          </p:cNvPr>
          <p:cNvSpPr>
            <a:spLocks noGrp="1"/>
          </p:cNvSpPr>
          <p:nvPr>
            <p:ph type="sldNum" sz="quarter" idx="12"/>
          </p:nvPr>
        </p:nvSpPr>
        <p:spPr/>
        <p:txBody>
          <a:bodyPr/>
          <a:lstStyle/>
          <a:p>
            <a:fld id="{81D2C36F-4504-47C0-B82F-A167342A2754}" type="slidenum">
              <a:rPr lang="en-US" smtClean="0"/>
              <a:t>19</a:t>
            </a:fld>
            <a:endParaRPr lang="en-US"/>
          </a:p>
        </p:txBody>
      </p:sp>
    </p:spTree>
    <p:extLst>
      <p:ext uri="{BB962C8B-B14F-4D97-AF65-F5344CB8AC3E}">
        <p14:creationId xmlns:p14="http://schemas.microsoft.com/office/powerpoint/2010/main" val="2642122195"/>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2577</TotalTime>
  <Words>1243</Words>
  <Application>Microsoft Macintosh PowerPoint</Application>
  <PresentationFormat>Widescreen</PresentationFormat>
  <Paragraphs>217</Paragraphs>
  <Slides>19</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Cambria Math</vt:lpstr>
      <vt:lpstr>Gill Sans MT</vt:lpstr>
      <vt:lpstr>Parcel</vt:lpstr>
      <vt:lpstr>A Proportional Share Resource Allocation Algorithm For Real-Time, Time-Shared Systems: A Closer Look</vt:lpstr>
      <vt:lpstr>Outline</vt:lpstr>
      <vt:lpstr>Task Model</vt:lpstr>
      <vt:lpstr>Fluid/Ideal System</vt:lpstr>
      <vt:lpstr>Lag</vt:lpstr>
      <vt:lpstr>Proportional-Share Algorithms</vt:lpstr>
      <vt:lpstr>The Virtual Time Domain</vt:lpstr>
      <vt:lpstr>EEVDF</vt:lpstr>
      <vt:lpstr>DYNAMIC SYSTEMS</vt:lpstr>
      <vt:lpstr>DYNAMIC SYSTEMS</vt:lpstr>
      <vt:lpstr>DYNAMIC SYSTEMS</vt:lpstr>
      <vt:lpstr>DYNAMIC SYSTEMS</vt:lpstr>
      <vt:lpstr>DYNAMIC SYSTEMS</vt:lpstr>
      <vt:lpstr>DYNAMIC SYSTEMS</vt:lpstr>
      <vt:lpstr>Linux</vt:lpstr>
      <vt:lpstr>Linux</vt:lpstr>
      <vt:lpstr>Mathematical Results</vt:lpstr>
      <vt:lpstr>Further Work</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Haddix, Sarah Barnes</dc:creator>
  <cp:lastModifiedBy>Haddix, Sarah Barnes</cp:lastModifiedBy>
  <cp:revision>1</cp:revision>
  <dcterms:created xsi:type="dcterms:W3CDTF">2026-04-04T22:34:04Z</dcterms:created>
  <dcterms:modified xsi:type="dcterms:W3CDTF">2026-04-06T17:31:47Z</dcterms:modified>
</cp:coreProperties>
</file>